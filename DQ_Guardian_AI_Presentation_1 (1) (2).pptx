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hITOQKwQUuLhHPdCY7Him9YFxK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Introduce yourself and the project. DQ Guardian AI is your end-to-end solution for automating data quality — from detection to repair to learning.</a:t>
            </a:r>
            <a:endParaRPr/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Dirty data costs organizations massive time. Manual cleaning is slow, doesn't scale, and leaves no institutional memory.</a:t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four pillars: Detect, Diagnose, Repair, Learn. The entire cycle is automated — no data engineer required.</a:t>
            </a:r>
            <a:endParaRPr/>
          </a:p>
        </p:txBody>
      </p:sp>
      <p:sp>
        <p:nvSpPr>
          <p:cNvPr id="71" name="Google Shape;7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 check types cover every major data quality dimension. CrossColumnCheck is the newest — enables rules like 'end_date must be after start_date'.</a:t>
            </a:r>
            <a:endParaRPr/>
          </a:p>
        </p:txBody>
      </p:sp>
      <p:sp>
        <p:nvSpPr>
          <p:cNvPr id="100" name="Google Shape;10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" name="Google Shape;15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Five layers: Frontend (Streamlit), Validation Engine, AI Layer, Agent Loop, Database. Each module is independent.</a:t>
            </a:r>
            <a:endParaRPr/>
          </a:p>
        </p:txBody>
      </p:sp>
      <p:sp>
        <p:nvSpPr>
          <p:cNvPr id="157" name="Google Shape;157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Six stages. The key innovation: memory in stage 2 means the agent reuses proven fixes. Concurrency in stage 3 = 5x speedup.</a:t>
            </a:r>
            <a:endParaRPr/>
          </a:p>
        </p:txBody>
      </p:sp>
      <p:sp>
        <p:nvSpPr>
          <p:cNvPr id="188" name="Google Shape;18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4" name="Google Shape;23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Three-tier AI fallback means the system NEVER crashes. Groq's LPU speed is critical for a good user experience.</a:t>
            </a:r>
            <a:endParaRPr/>
          </a:p>
        </p:txBody>
      </p:sp>
      <p:sp>
        <p:nvSpPr>
          <p:cNvPr id="235" name="Google Shape;23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3" name="Google Shape;26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Memory is the key differentiator. The system genuinely improves over time. Running average ensures reliability tracking.</a:t>
            </a:r>
            <a:endParaRPr/>
          </a:p>
        </p:txBody>
      </p:sp>
      <p:sp>
        <p:nvSpPr>
          <p:cNvPr id="264" name="Google Shape;26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9" name="Google Shape;299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is multi-layered: imports stripped, AST scanned, builtins whitelisted, SQL filtered, writes locked. AI code cannot harm the system.</a:t>
            </a:r>
            <a:endParaRPr/>
          </a:p>
        </p:txBody>
      </p:sp>
      <p:sp>
        <p:nvSpPr>
          <p:cNvPr id="300" name="Google Shape;300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1" name="Google Shape;331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Five tables store everything. agent_memory is independent (pattern-based), not run-specific. This enables cross-file learning.</a:t>
            </a:r>
            <a:endParaRPr/>
          </a:p>
        </p:txBody>
      </p:sp>
      <p:sp>
        <p:nvSpPr>
          <p:cNvPr id="332" name="Google Shape;332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0" name="Google Shape;39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8-step user journey. Step 8 — Download Cleaned File — is the 'money moment' judges look for. Show this in every demo.</a:t>
            </a:r>
            <a:endParaRPr/>
          </a:p>
        </p:txBody>
      </p:sp>
      <p:sp>
        <p:nvSpPr>
          <p:cNvPr id="391" name="Google Shape;39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7" name="Google Shape;437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Industry use cases. Scenario 3 (e-commerce) is the strongest demo case. Scenario 4 (startup) shows zero-config value.</a:t>
            </a:r>
            <a:endParaRPr/>
          </a:p>
        </p:txBody>
      </p:sp>
      <p:sp>
        <p:nvSpPr>
          <p:cNvPr id="438" name="Google Shape;438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6" name="Google Shape;476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Six innovations. The memory-augmented agent and sandboxed execution are the two that impress judges most. Have code ready to show.</a:t>
            </a:r>
            <a:endParaRPr/>
          </a:p>
        </p:txBody>
      </p:sp>
      <p:sp>
        <p:nvSpPr>
          <p:cNvPr id="477" name="Google Shape;477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3" name="Google Shape;513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Showing limitations proactively impresses judges — it shows engineering maturity and real understanding of the system.</a:t>
            </a:r>
            <a:endParaRPr/>
          </a:p>
        </p:txBody>
      </p:sp>
      <p:sp>
        <p:nvSpPr>
          <p:cNvPr id="514" name="Google Shape;514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9" name="Google Shape;549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Close with numbers — they stick. 13 checks, 6 stages, 5 tables, 3 fallbacks, 80% threshold, 95% approval. Then deliver the closing statement.</a:t>
            </a:r>
            <a:endParaRPr/>
          </a:p>
        </p:txBody>
      </p:sp>
      <p:sp>
        <p:nvSpPr>
          <p:cNvPr id="550" name="Google Shape;550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6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3" name="Google Shape;583;p16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A4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6263640" y="-1235070"/>
            <a:ext cx="5029200" cy="5029200"/>
          </a:xfrm>
          <a:prstGeom prst="ellipse">
            <a:avLst/>
          </a:prstGeom>
          <a:solidFill>
            <a:srgbClr val="1D5FA8">
              <a:alpha val="25098"/>
            </a:srgbClr>
          </a:solidFill>
          <a:ln cap="flat" cmpd="sng" w="12700">
            <a:solidFill>
              <a:srgbClr val="1D5FA8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7132320" y="1828800"/>
            <a:ext cx="3200400" cy="3200400"/>
          </a:xfrm>
          <a:prstGeom prst="ellipse">
            <a:avLst/>
          </a:prstGeom>
          <a:solidFill>
            <a:srgbClr val="0D9488">
              <a:alpha val="20000"/>
            </a:srgbClr>
          </a:solidFill>
          <a:ln cap="flat" cmpd="sng" w="12700">
            <a:solidFill>
              <a:srgbClr val="0D948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4" name="Google Shape;1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5486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/>
          <p:nvPr/>
        </p:nvSpPr>
        <p:spPr>
          <a:xfrm>
            <a:off x="1097280" y="502920"/>
            <a:ext cx="7589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EC8E3"/>
                </a:solidFill>
                <a:latin typeface="Calibri"/>
                <a:ea typeface="Calibri"/>
                <a:cs typeface="Calibri"/>
                <a:sym typeface="Calibri"/>
              </a:rPr>
              <a:t>DQ GUARDIAN AI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502920" y="123444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Quality Guardian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with Artificial Intelligence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02920" y="2743200"/>
            <a:ext cx="6858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Intelligent, automated data quality validation and repair platform.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AI-powered detection · diagnosis · code generation · memory-based learning.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02920" y="4114800"/>
            <a:ext cx="2011680" cy="384048"/>
          </a:xfrm>
          <a:prstGeom prst="roundRect">
            <a:avLst>
              <a:gd fmla="val 14286" name="adj"/>
            </a:avLst>
          </a:prstGeom>
          <a:solidFill>
            <a:srgbClr val="1D5FA8">
              <a:alpha val="65098"/>
            </a:srgbClr>
          </a:solidFill>
          <a:ln cap="flat" cmpd="sng" w="9525">
            <a:solidFill>
              <a:srgbClr val="3B8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02920" y="411480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13 Check Types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2651760" y="4114800"/>
            <a:ext cx="2011680" cy="384048"/>
          </a:xfrm>
          <a:prstGeom prst="roundRect">
            <a:avLst>
              <a:gd fmla="val 14286" name="adj"/>
            </a:avLst>
          </a:prstGeom>
          <a:solidFill>
            <a:srgbClr val="1D5FA8">
              <a:alpha val="65098"/>
            </a:srgbClr>
          </a:solidFill>
          <a:ln cap="flat" cmpd="sng" w="9525">
            <a:solidFill>
              <a:srgbClr val="3B8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2651760" y="411480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6-Stage Agent Loop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800600" y="4114800"/>
            <a:ext cx="2011680" cy="384048"/>
          </a:xfrm>
          <a:prstGeom prst="roundRect">
            <a:avLst>
              <a:gd fmla="val 14286" name="adj"/>
            </a:avLst>
          </a:prstGeom>
          <a:solidFill>
            <a:srgbClr val="1D5FA8">
              <a:alpha val="65098"/>
            </a:srgbClr>
          </a:solidFill>
          <a:ln cap="flat" cmpd="sng" w="9525">
            <a:solidFill>
              <a:srgbClr val="3B8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800600" y="411480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SQLite Memory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949440" y="4114800"/>
            <a:ext cx="2011680" cy="384048"/>
          </a:xfrm>
          <a:prstGeom prst="roundRect">
            <a:avLst>
              <a:gd fmla="val 14286" name="adj"/>
            </a:avLst>
          </a:prstGeom>
          <a:solidFill>
            <a:srgbClr val="1D5FA8">
              <a:alpha val="65098"/>
            </a:srgbClr>
          </a:solidFill>
          <a:ln cap="flat" cmpd="sng" w="9525">
            <a:solidFill>
              <a:srgbClr val="3B8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949440" y="411480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Groq AI (LLama-3.3-70b)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7862760" y="143280"/>
            <a:ext cx="7589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TEAM 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2A4A"/>
                </a:solidFill>
                <a:latin typeface="Calibri"/>
                <a:ea typeface="Calibri"/>
                <a:cs typeface="Calibri"/>
                <a:sym typeface="Calibri"/>
              </a:rPr>
              <a:t>The Problem: Dirty Data Crisis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Every organization faces the same invisible crisis — and no one has automated the solution.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57200" y="1234440"/>
            <a:ext cx="5212080" cy="566928"/>
          </a:xfrm>
          <a:prstGeom prst="roundRect">
            <a:avLst>
              <a:gd fmla="val 11290" name="adj"/>
            </a:avLst>
          </a:prstGeom>
          <a:solidFill>
            <a:srgbClr val="FFFFFF"/>
          </a:solidFill>
          <a:ln cap="flat" cmpd="sng" w="1015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5" name="Google Shape;3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32588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"/>
          <p:cNvSpPr/>
          <p:nvPr/>
        </p:nvSpPr>
        <p:spPr>
          <a:xfrm>
            <a:off x="1051560" y="127101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Null values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051560" y="1508760"/>
            <a:ext cx="4480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Customer with no email, transaction with no amount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57200" y="1901952"/>
            <a:ext cx="5212080" cy="566928"/>
          </a:xfrm>
          <a:prstGeom prst="roundRect">
            <a:avLst>
              <a:gd fmla="val 11290" name="adj"/>
            </a:avLst>
          </a:prstGeom>
          <a:solidFill>
            <a:srgbClr val="FFFFFF"/>
          </a:solidFill>
          <a:ln cap="flat" cmpd="sng" w="1015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9" name="Google Shape;3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99339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/>
          <p:nvPr/>
        </p:nvSpPr>
        <p:spPr>
          <a:xfrm>
            <a:off x="1051560" y="193852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Duplicates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051560" y="2176272"/>
            <a:ext cx="4480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Same customer ID appearing multiple times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57200" y="2569464"/>
            <a:ext cx="5212080" cy="566928"/>
          </a:xfrm>
          <a:prstGeom prst="roundRect">
            <a:avLst>
              <a:gd fmla="val 11290" name="adj"/>
            </a:avLst>
          </a:prstGeom>
          <a:solidFill>
            <a:srgbClr val="FFFFFF"/>
          </a:solidFill>
          <a:ln cap="flat" cmpd="sng" w="1015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3" name="Google Shape;4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266090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/>
          <p:nvPr/>
        </p:nvSpPr>
        <p:spPr>
          <a:xfrm>
            <a:off x="1051560" y="260604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Out-of-range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051560" y="2843784"/>
            <a:ext cx="4480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Negative prices, future order dates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57200" y="3236976"/>
            <a:ext cx="5212080" cy="566928"/>
          </a:xfrm>
          <a:prstGeom prst="roundRect">
            <a:avLst>
              <a:gd fmla="val 11290" name="adj"/>
            </a:avLst>
          </a:prstGeom>
          <a:solidFill>
            <a:srgbClr val="FFFFFF"/>
          </a:solidFill>
          <a:ln cap="flat" cmpd="sng" w="1015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7" name="Google Shape;4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332841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"/>
          <p:cNvSpPr/>
          <p:nvPr/>
        </p:nvSpPr>
        <p:spPr>
          <a:xfrm>
            <a:off x="1051560" y="327355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Wrong formats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051560" y="3511296"/>
            <a:ext cx="4480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Dates as MM/DD/YYYY when system expects YYYY-MM-DD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57200" y="3904488"/>
            <a:ext cx="5212080" cy="566928"/>
          </a:xfrm>
          <a:prstGeom prst="roundRect">
            <a:avLst>
              <a:gd fmla="val 11290" name="adj"/>
            </a:avLst>
          </a:prstGeom>
          <a:solidFill>
            <a:srgbClr val="FFFFFF"/>
          </a:solidFill>
          <a:ln cap="flat" cmpd="sng" w="1015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1" name="Google Shape;5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399592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2"/>
          <p:cNvSpPr/>
          <p:nvPr/>
        </p:nvSpPr>
        <p:spPr>
          <a:xfrm>
            <a:off x="1051560" y="394106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Type mismatches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051560" y="4178808"/>
            <a:ext cx="4480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Phone number stored as float, ID as text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5943600" y="1234440"/>
            <a:ext cx="2743200" cy="3337560"/>
          </a:xfrm>
          <a:prstGeom prst="roundRect">
            <a:avLst>
              <a:gd fmla="val 3333" name="adj"/>
            </a:avLst>
          </a:prstGeom>
          <a:solidFill>
            <a:srgbClr val="0F2A4A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035040" y="137160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Before DQ Guardian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" name="Google Shape;5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0760" y="182880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"/>
          <p:cNvSpPr/>
          <p:nvPr/>
        </p:nvSpPr>
        <p:spPr>
          <a:xfrm>
            <a:off x="6446520" y="182880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Manual CSV inspection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" name="Google Shape;5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0760" y="229514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2"/>
          <p:cNvSpPr/>
          <p:nvPr/>
        </p:nvSpPr>
        <p:spPr>
          <a:xfrm>
            <a:off x="6446520" y="2295144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Hand-written Python scripts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" name="Google Shape;6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0760" y="276148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2"/>
          <p:cNvSpPr/>
          <p:nvPr/>
        </p:nvSpPr>
        <p:spPr>
          <a:xfrm>
            <a:off x="6446520" y="2761488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Trial-and-error fixing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" name="Google Shape;6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0760" y="322783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2"/>
          <p:cNvSpPr/>
          <p:nvPr/>
        </p:nvSpPr>
        <p:spPr>
          <a:xfrm>
            <a:off x="6446520" y="322783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No institutional memory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" name="Google Shape;6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0760" y="369417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"/>
          <p:cNvSpPr/>
          <p:nvPr/>
        </p:nvSpPr>
        <p:spPr>
          <a:xfrm>
            <a:off x="6446520" y="3694176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Hours per dataset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6080760" y="4251960"/>
            <a:ext cx="2468880" cy="201168"/>
          </a:xfrm>
          <a:prstGeom prst="roundRect">
            <a:avLst>
              <a:gd fmla="val 18182" name="adj"/>
            </a:avLst>
          </a:prstGeom>
          <a:solidFill>
            <a:srgbClr val="DC2626">
              <a:alpha val="70196"/>
            </a:srgbClr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6080760" y="4224528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2–3 hours per morning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2A4A"/>
                </a:solidFill>
                <a:latin typeface="Calibri"/>
                <a:ea typeface="Calibri"/>
                <a:cs typeface="Calibri"/>
                <a:sym typeface="Calibri"/>
              </a:rPr>
              <a:t>DQ Guardian AI — The Solution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One platform that automates the entire data quality lifecycle.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384048" y="1325880"/>
            <a:ext cx="1993392" cy="3200400"/>
          </a:xfrm>
          <a:prstGeom prst="roundRect">
            <a:avLst>
              <a:gd fmla="val 458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923544" y="1508760"/>
            <a:ext cx="914400" cy="914400"/>
          </a:xfrm>
          <a:prstGeom prst="ellipse">
            <a:avLst/>
          </a:prstGeom>
          <a:solidFill>
            <a:srgbClr val="1D5FA8">
              <a:alpha val="87843"/>
            </a:srgbClr>
          </a:solidFill>
          <a:ln cap="flat" cmpd="sng" w="12700">
            <a:solidFill>
              <a:srgbClr val="1D5FA8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7" name="Google Shape;7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4984" y="1549908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3"/>
          <p:cNvSpPr/>
          <p:nvPr/>
        </p:nvSpPr>
        <p:spPr>
          <a:xfrm>
            <a:off x="384048" y="2542032"/>
            <a:ext cx="19933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F2A4A"/>
                </a:solidFill>
                <a:latin typeface="Calibri"/>
                <a:ea typeface="Calibri"/>
                <a:cs typeface="Calibri"/>
                <a:sym typeface="Calibri"/>
              </a:rPr>
              <a:t>Detect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93776" y="2944368"/>
            <a:ext cx="17830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13 check types run automatically on any CSV/Parquet file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2532888" y="1325880"/>
            <a:ext cx="1993392" cy="3200400"/>
          </a:xfrm>
          <a:prstGeom prst="roundRect">
            <a:avLst>
              <a:gd fmla="val 458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3072384" y="1508760"/>
            <a:ext cx="914400" cy="914400"/>
          </a:xfrm>
          <a:prstGeom prst="ellipse">
            <a:avLst/>
          </a:prstGeom>
          <a:solidFill>
            <a:srgbClr val="7C3AED">
              <a:alpha val="87843"/>
            </a:srgbClr>
          </a:solidFill>
          <a:ln cap="flat" cmpd="sng" w="12700">
            <a:solidFill>
              <a:srgbClr val="7C3AED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2" name="Google Shape;8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63824" y="160020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3"/>
          <p:cNvSpPr/>
          <p:nvPr/>
        </p:nvSpPr>
        <p:spPr>
          <a:xfrm>
            <a:off x="2532888" y="2542032"/>
            <a:ext cx="19933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F2A4A"/>
                </a:solidFill>
                <a:latin typeface="Calibri"/>
                <a:ea typeface="Calibri"/>
                <a:cs typeface="Calibri"/>
                <a:sym typeface="Calibri"/>
              </a:rPr>
              <a:t>Diagnose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2642616" y="2944368"/>
            <a:ext cx="17830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Groq AI explains root cause &amp; business impact in plain English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681728" y="1325880"/>
            <a:ext cx="1993392" cy="3200400"/>
          </a:xfrm>
          <a:prstGeom prst="roundRect">
            <a:avLst>
              <a:gd fmla="val 458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5221224" y="1508760"/>
            <a:ext cx="914400" cy="914400"/>
          </a:xfrm>
          <a:prstGeom prst="ellipse">
            <a:avLst/>
          </a:prstGeom>
          <a:solidFill>
            <a:srgbClr val="0D9488">
              <a:alpha val="87843"/>
            </a:srgbClr>
          </a:solidFill>
          <a:ln cap="flat" cmpd="sng" w="12700">
            <a:solidFill>
              <a:srgbClr val="0D9488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7" name="Google Shape;8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12664" y="160020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3"/>
          <p:cNvSpPr/>
          <p:nvPr/>
        </p:nvSpPr>
        <p:spPr>
          <a:xfrm>
            <a:off x="4681728" y="2542032"/>
            <a:ext cx="19933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F2A4A"/>
                </a:solidFill>
                <a:latin typeface="Calibri"/>
                <a:ea typeface="Calibri"/>
                <a:cs typeface="Calibri"/>
                <a:sym typeface="Calibri"/>
              </a:rPr>
              <a:t>Repair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791456" y="2944368"/>
            <a:ext cx="17830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AI generates Python &amp; SQL fix code, tested in a secure sandbox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6830568" y="1325880"/>
            <a:ext cx="1993392" cy="3200400"/>
          </a:xfrm>
          <a:prstGeom prst="roundRect">
            <a:avLst>
              <a:gd fmla="val 458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7370064" y="1508760"/>
            <a:ext cx="914400" cy="914400"/>
          </a:xfrm>
          <a:prstGeom prst="ellipse">
            <a:avLst/>
          </a:prstGeom>
          <a:solidFill>
            <a:srgbClr val="D97706">
              <a:alpha val="87843"/>
            </a:srgbClr>
          </a:solidFill>
          <a:ln cap="flat" cmpd="sng" w="12700">
            <a:solidFill>
              <a:srgbClr val="D97706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2" name="Google Shape;9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61504" y="160020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"/>
          <p:cNvSpPr/>
          <p:nvPr/>
        </p:nvSpPr>
        <p:spPr>
          <a:xfrm>
            <a:off x="6830568" y="2542032"/>
            <a:ext cx="19933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F2A4A"/>
                </a:solidFill>
                <a:latin typeface="Calibri"/>
                <a:ea typeface="Calibri"/>
                <a:cs typeface="Calibri"/>
                <a:sym typeface="Calibri"/>
              </a:rPr>
              <a:t>Learn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6940296" y="2944368"/>
            <a:ext cx="17830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SQLite memory reuses successful fixes — no API call needed next time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457200" y="4663440"/>
            <a:ext cx="8229600" cy="347472"/>
          </a:xfrm>
          <a:prstGeom prst="roundRect">
            <a:avLst>
              <a:gd fmla="val 18421" name="adj"/>
            </a:avLst>
          </a:prstGeom>
          <a:solidFill>
            <a:srgbClr val="0F2A4A">
              <a:alpha val="94901"/>
            </a:srgbClr>
          </a:solidFill>
          <a:ln cap="flat" cmpd="sng" w="12700">
            <a:solidFill>
              <a:srgbClr val="1D5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Upload any CSV  →  Get AI validation, diagnosis, repair code &amp; cleaned download — in under 10 seconds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2A4A"/>
                </a:solidFill>
                <a:latin typeface="Calibri"/>
                <a:ea typeface="Calibri"/>
                <a:cs typeface="Calibri"/>
                <a:sym typeface="Calibri"/>
              </a:rPr>
              <a:t>13 Validation Check Types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Every check is a Python class with a single boolean failed_mask logic.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438912" y="1234440"/>
            <a:ext cx="2743200" cy="749808"/>
          </a:xfrm>
          <a:prstGeom prst="roundRect">
            <a:avLst>
              <a:gd fmla="val 853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5" name="Google Shape;10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" y="143560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5"/>
          <p:cNvSpPr/>
          <p:nvPr/>
        </p:nvSpPr>
        <p:spPr>
          <a:xfrm>
            <a:off x="896112" y="1289304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2A4A"/>
                </a:solidFill>
                <a:latin typeface="Calibri"/>
                <a:ea typeface="Calibri"/>
                <a:cs typeface="Calibri"/>
                <a:sym typeface="Calibri"/>
              </a:rPr>
              <a:t>NullCheck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896112" y="1563624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Empty / NaN / 'None' strings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3346704" y="1234440"/>
            <a:ext cx="2743200" cy="749808"/>
          </a:xfrm>
          <a:prstGeom prst="roundRect">
            <a:avLst>
              <a:gd fmla="val 853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9" name="Google Shape;10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8144" y="143560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5"/>
          <p:cNvSpPr/>
          <p:nvPr/>
        </p:nvSpPr>
        <p:spPr>
          <a:xfrm>
            <a:off x="3803904" y="1289304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2A4A"/>
                </a:solidFill>
                <a:latin typeface="Calibri"/>
                <a:ea typeface="Calibri"/>
                <a:cs typeface="Calibri"/>
                <a:sym typeface="Calibri"/>
              </a:rPr>
              <a:t>UniqueCheck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3803904" y="1563624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All duplicates flagged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6254496" y="1234440"/>
            <a:ext cx="2743200" cy="749808"/>
          </a:xfrm>
          <a:prstGeom prst="roundRect">
            <a:avLst>
              <a:gd fmla="val 853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3" name="Google Shape;11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5936" y="143560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5"/>
          <p:cNvSpPr/>
          <p:nvPr/>
        </p:nvSpPr>
        <p:spPr>
          <a:xfrm>
            <a:off x="6711696" y="1289304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2A4A"/>
                </a:solidFill>
                <a:latin typeface="Calibri"/>
                <a:ea typeface="Calibri"/>
                <a:cs typeface="Calibri"/>
                <a:sym typeface="Calibri"/>
              </a:rPr>
              <a:t>DuplicateCheck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6711696" y="1563624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Non-first occurrences flagged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438912" y="2112264"/>
            <a:ext cx="2743200" cy="749808"/>
          </a:xfrm>
          <a:prstGeom prst="roundRect">
            <a:avLst>
              <a:gd fmla="val 853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7" name="Google Shape;11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" y="231343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5"/>
          <p:cNvSpPr/>
          <p:nvPr/>
        </p:nvSpPr>
        <p:spPr>
          <a:xfrm>
            <a:off x="896112" y="216712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2A4A"/>
                </a:solidFill>
                <a:latin typeface="Calibri"/>
                <a:ea typeface="Calibri"/>
                <a:cs typeface="Calibri"/>
                <a:sym typeface="Calibri"/>
              </a:rPr>
              <a:t>RangeCheck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896112" y="2441448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Min/Max numeric bounds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3346704" y="2112264"/>
            <a:ext cx="2743200" cy="749808"/>
          </a:xfrm>
          <a:prstGeom prst="roundRect">
            <a:avLst>
              <a:gd fmla="val 853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1" name="Google Shape;12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8144" y="231343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/>
          <p:nvPr/>
        </p:nvSpPr>
        <p:spPr>
          <a:xfrm>
            <a:off x="3803904" y="216712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2A4A"/>
                </a:solidFill>
                <a:latin typeface="Calibri"/>
                <a:ea typeface="Calibri"/>
                <a:cs typeface="Calibri"/>
                <a:sym typeface="Calibri"/>
              </a:rPr>
              <a:t>RegexCheck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3803904" y="2441448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Pattern matching (emails, IDs)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6254496" y="2112264"/>
            <a:ext cx="2743200" cy="749808"/>
          </a:xfrm>
          <a:prstGeom prst="roundRect">
            <a:avLst>
              <a:gd fmla="val 853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5" name="Google Shape;1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5936" y="231343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5"/>
          <p:cNvSpPr/>
          <p:nvPr/>
        </p:nvSpPr>
        <p:spPr>
          <a:xfrm>
            <a:off x="6711696" y="216712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2A4A"/>
                </a:solidFill>
                <a:latin typeface="Calibri"/>
                <a:ea typeface="Calibri"/>
                <a:cs typeface="Calibri"/>
                <a:sym typeface="Calibri"/>
              </a:rPr>
              <a:t>DatatypeCheck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6711696" y="2441448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Cast validation — no data loss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438912" y="2990088"/>
            <a:ext cx="2743200" cy="749808"/>
          </a:xfrm>
          <a:prstGeom prst="roundRect">
            <a:avLst>
              <a:gd fmla="val 853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9" name="Google Shape;12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" y="319125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/>
          <p:cNvSpPr/>
          <p:nvPr/>
        </p:nvSpPr>
        <p:spPr>
          <a:xfrm>
            <a:off x="896112" y="304495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2A4A"/>
                </a:solidFill>
                <a:latin typeface="Calibri"/>
                <a:ea typeface="Calibri"/>
                <a:cs typeface="Calibri"/>
                <a:sym typeface="Calibri"/>
              </a:rPr>
              <a:t>DateValidationCheck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896112" y="3319272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Strict format parsing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3346704" y="2990088"/>
            <a:ext cx="2743200" cy="749808"/>
          </a:xfrm>
          <a:prstGeom prst="roundRect">
            <a:avLst>
              <a:gd fmla="val 853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3" name="Google Shape;13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8144" y="319125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"/>
          <p:cNvSpPr/>
          <p:nvPr/>
        </p:nvSpPr>
        <p:spPr>
          <a:xfrm>
            <a:off x="3803904" y="304495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2A4A"/>
                </a:solidFill>
                <a:latin typeface="Calibri"/>
                <a:ea typeface="Calibri"/>
                <a:cs typeface="Calibri"/>
                <a:sym typeface="Calibri"/>
              </a:rPr>
              <a:t>FutureDateCheck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3803904" y="3319272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Historical date constraint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6254496" y="2990088"/>
            <a:ext cx="2743200" cy="749808"/>
          </a:xfrm>
          <a:prstGeom prst="roundRect">
            <a:avLst>
              <a:gd fmla="val 853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7" name="Google Shape;13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5936" y="319125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/>
          <p:nvPr/>
        </p:nvSpPr>
        <p:spPr>
          <a:xfrm>
            <a:off x="6711696" y="304495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2A4A"/>
                </a:solidFill>
                <a:latin typeface="Calibri"/>
                <a:ea typeface="Calibri"/>
                <a:cs typeface="Calibri"/>
                <a:sym typeface="Calibri"/>
              </a:rPr>
              <a:t>OutlierDetectionCheck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6711696" y="3319272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Z-score &gt; threshold (def 3.0)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438912" y="3867912"/>
            <a:ext cx="2743200" cy="749808"/>
          </a:xfrm>
          <a:prstGeom prst="roundRect">
            <a:avLst>
              <a:gd fmla="val 853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41" name="Google Shape;14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" y="4069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5"/>
          <p:cNvSpPr/>
          <p:nvPr/>
        </p:nvSpPr>
        <p:spPr>
          <a:xfrm>
            <a:off x="896112" y="3922776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2A4A"/>
                </a:solidFill>
                <a:latin typeface="Calibri"/>
                <a:ea typeface="Calibri"/>
                <a:cs typeface="Calibri"/>
                <a:sym typeface="Calibri"/>
              </a:rPr>
              <a:t>RowCountCheck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896112" y="4197096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Dataset size enforcement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3346704" y="3867912"/>
            <a:ext cx="2743200" cy="749808"/>
          </a:xfrm>
          <a:prstGeom prst="roundRect">
            <a:avLst>
              <a:gd fmla="val 853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45" name="Google Shape;14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8144" y="4069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5"/>
          <p:cNvSpPr/>
          <p:nvPr/>
        </p:nvSpPr>
        <p:spPr>
          <a:xfrm>
            <a:off x="3803904" y="3922776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2A4A"/>
                </a:solidFill>
                <a:latin typeface="Calibri"/>
                <a:ea typeface="Calibri"/>
                <a:cs typeface="Calibri"/>
                <a:sym typeface="Calibri"/>
              </a:rPr>
              <a:t>ColumnExistenceCheck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3803904" y="4197096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Required column presence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6254496" y="3867912"/>
            <a:ext cx="2743200" cy="749808"/>
          </a:xfrm>
          <a:prstGeom prst="roundRect">
            <a:avLst>
              <a:gd fmla="val 853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49" name="Google Shape;14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5936" y="4069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5"/>
          <p:cNvSpPr/>
          <p:nvPr/>
        </p:nvSpPr>
        <p:spPr>
          <a:xfrm>
            <a:off x="6711696" y="3922776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F2A4A"/>
                </a:solidFill>
                <a:latin typeface="Calibri"/>
                <a:ea typeface="Calibri"/>
                <a:cs typeface="Calibri"/>
                <a:sym typeface="Calibri"/>
              </a:rPr>
              <a:t>NegativeValueCheck ,</a:t>
            </a:r>
            <a:r>
              <a:rPr b="1" i="0" lang="en-US" sz="105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CrossColumnCheck</a:t>
            </a:r>
            <a:endParaRPr b="0" i="0" sz="1050" u="none" cap="none" strike="noStrike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6711696" y="4270248"/>
            <a:ext cx="2240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Non-negative enforcement,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end_date &gt; start_date logic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896112" y="48006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896112" y="5074920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2A4A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Clean separation of concerns across five layers.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457200" y="1188720"/>
            <a:ext cx="8229600" cy="621792"/>
          </a:xfrm>
          <a:prstGeom prst="roundRect">
            <a:avLst>
              <a:gd fmla="val 10294" name="adj"/>
            </a:avLst>
          </a:prstGeom>
          <a:solidFill>
            <a:srgbClr val="3B82C4">
              <a:alpha val="12156"/>
            </a:srgbClr>
          </a:solidFill>
          <a:ln cap="flat" cmpd="sng" w="19050">
            <a:solidFill>
              <a:srgbClr val="3B8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2" name="Google Shape;16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31673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4"/>
          <p:cNvSpPr/>
          <p:nvPr/>
        </p:nvSpPr>
        <p:spPr>
          <a:xfrm>
            <a:off x="1097280" y="1243584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C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3B82C4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1097280" y="1499616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Streamlit — 8 Pages  ·  st.session_state for runtime  ·  Plotly charts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4434840" y="1764792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C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82C4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457200" y="1920240"/>
            <a:ext cx="8229600" cy="621792"/>
          </a:xfrm>
          <a:prstGeom prst="roundRect">
            <a:avLst>
              <a:gd fmla="val 10294" name="adj"/>
            </a:avLst>
          </a:prstGeom>
          <a:solidFill>
            <a:srgbClr val="0D9488">
              <a:alpha val="12156"/>
            </a:srgbClr>
          </a:solidFill>
          <a:ln cap="flat" cmpd="sng" w="190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7" name="Google Shape;16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04825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4"/>
          <p:cNvSpPr/>
          <p:nvPr/>
        </p:nvSpPr>
        <p:spPr>
          <a:xfrm>
            <a:off x="1097280" y="1975104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VALIDATION ENGINE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1097280" y="2231136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validator.py — 13 check classes  ·  RULE_MAPPING dict  ·  ValidationReport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4434840" y="2496312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457200" y="2651760"/>
            <a:ext cx="8229600" cy="621792"/>
          </a:xfrm>
          <a:prstGeom prst="roundRect">
            <a:avLst>
              <a:gd fmla="val 10294" name="adj"/>
            </a:avLst>
          </a:prstGeom>
          <a:solidFill>
            <a:srgbClr val="7C3AED">
              <a:alpha val="12156"/>
            </a:srgbClr>
          </a:solidFill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2" name="Google Shape;17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277977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4"/>
          <p:cNvSpPr/>
          <p:nvPr/>
        </p:nvSpPr>
        <p:spPr>
          <a:xfrm>
            <a:off x="1097280" y="2706624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AI LAYER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1097280" y="2962656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Groq   ·  root_cause_analyzer  ·  auto_rules_generator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4434840" y="3227832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457200" y="3383280"/>
            <a:ext cx="8229600" cy="621792"/>
          </a:xfrm>
          <a:prstGeom prst="roundRect">
            <a:avLst>
              <a:gd fmla="val 10294" name="adj"/>
            </a:avLst>
          </a:prstGeom>
          <a:solidFill>
            <a:srgbClr val="1D5FA8">
              <a:alpha val="12156"/>
            </a:srgbClr>
          </a:solidFill>
          <a:ln cap="flat" cmpd="sng" w="19050">
            <a:solidFill>
              <a:srgbClr val="1D5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7" name="Google Shape;17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" y="351129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4"/>
          <p:cNvSpPr/>
          <p:nvPr/>
        </p:nvSpPr>
        <p:spPr>
          <a:xfrm>
            <a:off x="1097280" y="3438144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FA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D5FA8"/>
                </a:solidFill>
                <a:latin typeface="Calibri"/>
                <a:ea typeface="Calibri"/>
                <a:cs typeface="Calibri"/>
                <a:sym typeface="Calibri"/>
              </a:rPr>
              <a:t>AGENT LOOP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1097280" y="3694176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agent_loop.py — Observe → Reason → Act → Validate → Learn → Repeat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4434840" y="3959352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F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D5FA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457200" y="4114800"/>
            <a:ext cx="8229600" cy="621792"/>
          </a:xfrm>
          <a:prstGeom prst="roundRect">
            <a:avLst>
              <a:gd fmla="val 10294" name="adj"/>
            </a:avLst>
          </a:prstGeom>
          <a:solidFill>
            <a:srgbClr val="0F2A4A"/>
          </a:solidFill>
          <a:ln cap="flat" cmpd="sng" w="19050">
            <a:solidFill>
              <a:srgbClr val="0F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82" name="Google Shape;182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0080" y="424281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4"/>
          <p:cNvSpPr/>
          <p:nvPr/>
        </p:nvSpPr>
        <p:spPr>
          <a:xfrm>
            <a:off x="1097280" y="4169664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1097280" y="4425696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SQLite — 5 tables: runs, failures, fixes, agent_memory, generated_rules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2A4A"/>
                </a:solidFill>
                <a:latin typeface="Calibri"/>
                <a:ea typeface="Calibri"/>
                <a:cs typeface="Calibri"/>
                <a:sym typeface="Calibri"/>
              </a:rPr>
              <a:t>The 6-Stage Agent Loop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Iterative cycle — up to 3 iterations — until data is clean or max iterations reached.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384048" y="1261872"/>
            <a:ext cx="2743200" cy="1572768"/>
          </a:xfrm>
          <a:prstGeom prst="roundRect">
            <a:avLst>
              <a:gd fmla="val 581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475488" y="1353312"/>
            <a:ext cx="502920" cy="502920"/>
          </a:xfrm>
          <a:prstGeom prst="ellipse">
            <a:avLst/>
          </a:prstGeom>
          <a:solidFill>
            <a:srgbClr val="1D5FA8">
              <a:alpha val="90196"/>
            </a:srgbClr>
          </a:solidFill>
          <a:ln cap="flat" cmpd="sng" w="12700">
            <a:solidFill>
              <a:srgbClr val="1D5FA8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475488" y="13533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5" name="Google Shape;19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5456" y="135331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6"/>
          <p:cNvSpPr/>
          <p:nvPr/>
        </p:nvSpPr>
        <p:spPr>
          <a:xfrm>
            <a:off x="1042416" y="1389888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FA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D5FA8"/>
                </a:solidFill>
                <a:latin typeface="Calibri"/>
                <a:ea typeface="Calibri"/>
                <a:cs typeface="Calibri"/>
                <a:sym typeface="Calibri"/>
              </a:rPr>
              <a:t>OBSERVE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475488" y="1792224"/>
            <a:ext cx="2560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Run all 13 checks on DataFrame → collect CheckResult per rule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3154680" y="1856232"/>
            <a:ext cx="182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3291840" y="1261872"/>
            <a:ext cx="2743200" cy="1572768"/>
          </a:xfrm>
          <a:prstGeom prst="roundRect">
            <a:avLst>
              <a:gd fmla="val 581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3383280" y="1353312"/>
            <a:ext cx="502920" cy="502920"/>
          </a:xfrm>
          <a:prstGeom prst="ellipse">
            <a:avLst/>
          </a:prstGeom>
          <a:solidFill>
            <a:srgbClr val="7C3AED">
              <a:alpha val="90196"/>
            </a:srgbClr>
          </a:solidFill>
          <a:ln cap="flat" cmpd="sng" w="12700">
            <a:solidFill>
              <a:srgbClr val="7C3AED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3383280" y="13533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2" name="Google Shape;20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3248" y="135331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6"/>
          <p:cNvSpPr/>
          <p:nvPr/>
        </p:nvSpPr>
        <p:spPr>
          <a:xfrm>
            <a:off x="3950208" y="1389888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REASON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3383280" y="1792224"/>
            <a:ext cx="2560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Query SQLite memory → if success_rate ≥ 80% → REUSE; else → AI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6062472" y="1856232"/>
            <a:ext cx="182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6199632" y="1261872"/>
            <a:ext cx="2743200" cy="1572768"/>
          </a:xfrm>
          <a:prstGeom prst="roundRect">
            <a:avLst>
              <a:gd fmla="val 581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6291072" y="1353312"/>
            <a:ext cx="502920" cy="502920"/>
          </a:xfrm>
          <a:prstGeom prst="ellipse">
            <a:avLst/>
          </a:prstGeom>
          <a:solidFill>
            <a:srgbClr val="0D9488">
              <a:alpha val="90196"/>
            </a:srgbClr>
          </a:solidFill>
          <a:ln cap="flat" cmpd="sng" w="12700">
            <a:solidFill>
              <a:srgbClr val="0D9488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6291072" y="13533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9" name="Google Shape;20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21040" y="135331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6"/>
          <p:cNvSpPr/>
          <p:nvPr/>
        </p:nvSpPr>
        <p:spPr>
          <a:xfrm>
            <a:off x="6858000" y="1389888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6291072" y="1792224"/>
            <a:ext cx="2560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ThreadPoolExecutor(5) → Groq API or memory fix → AST-validate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384048" y="3017520"/>
            <a:ext cx="2743200" cy="1572768"/>
          </a:xfrm>
          <a:prstGeom prst="roundRect">
            <a:avLst>
              <a:gd fmla="val 581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475488" y="3108960"/>
            <a:ext cx="502920" cy="502920"/>
          </a:xfrm>
          <a:prstGeom prst="ellipse">
            <a:avLst/>
          </a:prstGeom>
          <a:solidFill>
            <a:srgbClr val="D97706">
              <a:alpha val="90196"/>
            </a:srgbClr>
          </a:solidFill>
          <a:ln cap="flat" cmpd="sng" w="12700">
            <a:solidFill>
              <a:srgbClr val="D97706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475488" y="31089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5" name="Google Shape;21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05456" y="31089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6"/>
          <p:cNvSpPr/>
          <p:nvPr/>
        </p:nvSpPr>
        <p:spPr>
          <a:xfrm>
            <a:off x="1042416" y="3145536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475488" y="3547872"/>
            <a:ext cx="2560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exec() in sandbox on df_copy → measure improvement → approve if ≥95%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3154680" y="3611880"/>
            <a:ext cx="182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3291840" y="3017520"/>
            <a:ext cx="2743200" cy="1572768"/>
          </a:xfrm>
          <a:prstGeom prst="roundRect">
            <a:avLst>
              <a:gd fmla="val 581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3383280" y="3108960"/>
            <a:ext cx="502920" cy="502920"/>
          </a:xfrm>
          <a:prstGeom prst="ellipse">
            <a:avLst/>
          </a:prstGeom>
          <a:solidFill>
            <a:srgbClr val="D97706">
              <a:alpha val="90196"/>
            </a:srgbClr>
          </a:solidFill>
          <a:ln cap="flat" cmpd="sng" w="12700">
            <a:solidFill>
              <a:srgbClr val="D97706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3383280" y="31089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2" name="Google Shape;222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13248" y="31089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6"/>
          <p:cNvSpPr/>
          <p:nvPr/>
        </p:nvSpPr>
        <p:spPr>
          <a:xfrm>
            <a:off x="3950208" y="3145536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LEARN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3383280" y="3547872"/>
            <a:ext cx="2560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SQLite: save fix + running average improvement + success/fail count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6062472" y="3611880"/>
            <a:ext cx="182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6199632" y="3017520"/>
            <a:ext cx="2743200" cy="1572768"/>
          </a:xfrm>
          <a:prstGeom prst="roundRect">
            <a:avLst>
              <a:gd fmla="val 581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6291072" y="3108960"/>
            <a:ext cx="502920" cy="502920"/>
          </a:xfrm>
          <a:prstGeom prst="ellipse">
            <a:avLst/>
          </a:prstGeom>
          <a:solidFill>
            <a:srgbClr val="0F2A4A">
              <a:alpha val="90196"/>
            </a:srgbClr>
          </a:solidFill>
          <a:ln cap="flat" cmpd="sng" w="12700">
            <a:solidFill>
              <a:srgbClr val="0F2A4A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6291072" y="31089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9" name="Google Shape;229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21040" y="31089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6"/>
          <p:cNvSpPr/>
          <p:nvPr/>
        </p:nvSpPr>
        <p:spPr>
          <a:xfrm>
            <a:off x="6858000" y="3145536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2A4A"/>
                </a:solidFill>
                <a:latin typeface="Calibri"/>
                <a:ea typeface="Calibri"/>
                <a:cs typeface="Calibri"/>
                <a:sym typeface="Calibri"/>
              </a:rPr>
              <a:t>REPEAT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6291072" y="3547872"/>
            <a:ext cx="2560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Loop until: 0 failures OR critical resolved ≥95% OR max_iterations=3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7"/>
          <p:cNvSpPr/>
          <p:nvPr/>
        </p:nvSpPr>
        <p:spPr>
          <a:xfrm>
            <a:off x="411480" y="242316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2A4A"/>
                </a:solidFill>
                <a:latin typeface="Calibri"/>
                <a:ea typeface="Calibri"/>
                <a:cs typeface="Calibri"/>
                <a:sym typeface="Calibri"/>
              </a:rPr>
              <a:t>AI Engine &amp; 3-Layer Fallback Chain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System never fails due to API unavailability — three layers of protection.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457200" y="1261872"/>
            <a:ext cx="8229600" cy="868680"/>
          </a:xfrm>
          <a:prstGeom prst="roundRect">
            <a:avLst>
              <a:gd fmla="val 8421" name="adj"/>
            </a:avLst>
          </a:prstGeom>
          <a:solidFill>
            <a:srgbClr val="1D5FA8">
              <a:alpha val="14901"/>
            </a:srgbClr>
          </a:solidFill>
          <a:ln cap="flat" cmpd="sng" w="19050">
            <a:solidFill>
              <a:srgbClr val="1D5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457200" y="1261872"/>
            <a:ext cx="1280160" cy="868680"/>
          </a:xfrm>
          <a:prstGeom prst="roundRect">
            <a:avLst>
              <a:gd fmla="val 8421" name="adj"/>
            </a:avLst>
          </a:prstGeom>
          <a:solidFill>
            <a:srgbClr val="1D5FA8">
              <a:alpha val="90196"/>
            </a:srgbClr>
          </a:solidFill>
          <a:ln cap="flat" cmpd="sng" w="12700">
            <a:solidFill>
              <a:srgbClr val="1D5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457200" y="1307592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TIER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457200" y="1609344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1874520" y="1316736"/>
            <a:ext cx="6720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F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D5FA8"/>
                </a:solidFill>
                <a:latin typeface="Calibri"/>
                <a:ea typeface="Calibri"/>
                <a:cs typeface="Calibri"/>
                <a:sym typeface="Calibri"/>
              </a:rPr>
              <a:t>llama-3.3-70b-versatile (Groq)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1874520" y="1609344"/>
            <a:ext cx="6720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500+ tokens/sec · JSON mode enforced · complex reasoning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2926080" y="2176272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↓  If unavailable / rate-limited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1143000" y="2340864"/>
            <a:ext cx="6858000" cy="868680"/>
          </a:xfrm>
          <a:prstGeom prst="roundRect">
            <a:avLst>
              <a:gd fmla="val 8421" name="adj"/>
            </a:avLst>
          </a:prstGeom>
          <a:solidFill>
            <a:srgbClr val="0D9488">
              <a:alpha val="14901"/>
            </a:srgbClr>
          </a:solidFill>
          <a:ln cap="flat" cmpd="sng" w="190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1143000" y="2331720"/>
            <a:ext cx="1280160" cy="868680"/>
          </a:xfrm>
          <a:prstGeom prst="roundRect">
            <a:avLst>
              <a:gd fmla="val 8421" name="adj"/>
            </a:avLst>
          </a:prstGeom>
          <a:solidFill>
            <a:srgbClr val="0D9488">
              <a:alpha val="90196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1143000" y="2377440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TIER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1143000" y="2679192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FALLBACK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2560320" y="2386584"/>
            <a:ext cx="5349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llama-3.1-8b-instant (Groq)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2560320" y="2679192"/>
            <a:ext cx="5349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Triggered on HTTP 429 rate limit · faster, lighter model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3200400" y="324612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↓  If unavailable / rate-limited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1828800" y="3401568"/>
            <a:ext cx="5486400" cy="868680"/>
          </a:xfrm>
          <a:prstGeom prst="roundRect">
            <a:avLst>
              <a:gd fmla="val 8421" name="adj"/>
            </a:avLst>
          </a:prstGeom>
          <a:solidFill>
            <a:srgbClr val="D97706">
              <a:alpha val="14901"/>
            </a:srgbClr>
          </a:solidFill>
          <a:ln cap="flat" cmpd="sng" w="190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1828800" y="3401568"/>
            <a:ext cx="1280160" cy="868680"/>
          </a:xfrm>
          <a:prstGeom prst="roundRect">
            <a:avLst>
              <a:gd fmla="val 8421" name="adj"/>
            </a:avLst>
          </a:prstGeom>
          <a:solidFill>
            <a:srgbClr val="D97706">
              <a:alpha val="90196"/>
            </a:srgbClr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1828800" y="3447288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TIER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1828800" y="374904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LAST RESORT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3246120" y="3456432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Rule-Based Templates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3246120" y="3749040"/>
            <a:ext cx="3977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12 hardcoded patterns · zero API · confidence=0.55 · always available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457200" y="4343400"/>
            <a:ext cx="8229600" cy="594360"/>
          </a:xfrm>
          <a:prstGeom prst="roundRect">
            <a:avLst>
              <a:gd fmla="val 12308" name="adj"/>
            </a:avLst>
          </a:prstGeom>
          <a:solidFill>
            <a:srgbClr val="0F2A4A">
              <a:alpha val="94901"/>
            </a:srgbClr>
          </a:solidFill>
          <a:ln cap="flat" cmpd="sng" w="12700">
            <a:solidFill>
              <a:srgbClr val="1D5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Why Groq?  500+ tokens/sec LPU vs ~50 tok/sec GPU  ·  JSON mode prevents unstructured output  ·  Free tier  ·  Open model quality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8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2A4A"/>
                </a:solidFill>
                <a:latin typeface="Calibri"/>
                <a:ea typeface="Calibri"/>
                <a:cs typeface="Calibri"/>
                <a:sym typeface="Calibri"/>
              </a:rPr>
              <a:t>Memory Engine — The Learning System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agent learns from every run — reusing proven fixes without calling the API again.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457200" y="1188720"/>
            <a:ext cx="5029200" cy="3566160"/>
          </a:xfrm>
          <a:prstGeom prst="roundRect">
            <a:avLst>
              <a:gd fmla="val 256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594360" y="132588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2A4A"/>
                </a:solidFill>
                <a:latin typeface="Calibri"/>
                <a:ea typeface="Calibri"/>
                <a:cs typeface="Calibri"/>
                <a:sym typeface="Calibri"/>
              </a:rPr>
              <a:t>How Memory Learns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566928" y="1719072"/>
            <a:ext cx="4800600" cy="484632"/>
          </a:xfrm>
          <a:prstGeom prst="roundRect">
            <a:avLst>
              <a:gd fmla="val 9434" name="adj"/>
            </a:avLst>
          </a:prstGeom>
          <a:solidFill>
            <a:srgbClr val="1D5FA8">
              <a:alpha val="7843"/>
            </a:srgbClr>
          </a:solidFill>
          <a:ln cap="flat" cmpd="sng" w="10150">
            <a:solidFill>
              <a:srgbClr val="1D5FA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658368" y="1764792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FA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D5FA8"/>
                </a:solidFill>
                <a:latin typeface="Calibri"/>
                <a:ea typeface="Calibri"/>
                <a:cs typeface="Calibri"/>
                <a:sym typeface="Calibri"/>
              </a:rPr>
              <a:t>Run 1: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658368" y="1947672"/>
            <a:ext cx="4617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email_null_check fails → AI called → fix generated → tested → saved as pattern "email_null_check:email"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566928" y="2295144"/>
            <a:ext cx="4800600" cy="484632"/>
          </a:xfrm>
          <a:prstGeom prst="roundRect">
            <a:avLst>
              <a:gd fmla="val 9434" name="adj"/>
            </a:avLst>
          </a:prstGeom>
          <a:solidFill>
            <a:srgbClr val="16A34A">
              <a:alpha val="7843"/>
            </a:srgbClr>
          </a:solidFill>
          <a:ln cap="flat" cmpd="sng" w="10150">
            <a:solidFill>
              <a:srgbClr val="16A34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658368" y="2340864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Run 2: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658368" y="2523744"/>
            <a:ext cx="4617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Same pattern seen → get_best_fix() → success_rate = 100% → MEMORY REUSE → no API call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566928" y="2871216"/>
            <a:ext cx="4800600" cy="484632"/>
          </a:xfrm>
          <a:prstGeom prst="roundRect">
            <a:avLst>
              <a:gd fmla="val 9434" name="adj"/>
            </a:avLst>
          </a:prstGeom>
          <a:solidFill>
            <a:srgbClr val="0D9488">
              <a:alpha val="7843"/>
            </a:srgbClr>
          </a:solidFill>
          <a:ln cap="flat" cmpd="sng" w="10150">
            <a:solidFill>
              <a:srgbClr val="0D94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658368" y="2916936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Memory Key: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658368" y="3099816"/>
            <a:ext cx="4617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"check_name:column" composite → same fix reused across ALL uploaded files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566928" y="3447288"/>
            <a:ext cx="4800600" cy="484632"/>
          </a:xfrm>
          <a:prstGeom prst="roundRect">
            <a:avLst>
              <a:gd fmla="val 9434" name="adj"/>
            </a:avLst>
          </a:prstGeom>
          <a:solidFill>
            <a:srgbClr val="D97706">
              <a:alpha val="7843"/>
            </a:srgbClr>
          </a:solidFill>
          <a:ln cap="flat" cmpd="sng" w="10150">
            <a:solidFill>
              <a:srgbClr val="D9770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658368" y="3493008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Threshold: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658368" y="3675888"/>
            <a:ext cx="4617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≥80% success rate required → below 80% → fresh AI analysis requested instead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566928" y="4023360"/>
            <a:ext cx="4800600" cy="484632"/>
          </a:xfrm>
          <a:prstGeom prst="roundRect">
            <a:avLst>
              <a:gd fmla="val 9434" name="adj"/>
            </a:avLst>
          </a:prstGeom>
          <a:solidFill>
            <a:srgbClr val="7C3AED">
              <a:alpha val="7843"/>
            </a:srgbClr>
          </a:solidFill>
          <a:ln cap="flat" cmpd="sng" w="10150">
            <a:solidFill>
              <a:srgbClr val="7C3AE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658368" y="4069080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Algorithm: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658368" y="4251960"/>
            <a:ext cx="4617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Running avg: new_avg = ((prev × (n-1)) + improvement) / 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5669280" y="1234440"/>
            <a:ext cx="1463040" cy="155448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5669280" y="1399032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54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5715000" y="205740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Memory records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learned so far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7269480" y="1234440"/>
            <a:ext cx="1463040" cy="155448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7269480" y="1399032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FA8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D5FA8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7315200" y="205740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Validation runs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stored in SQLite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5669280" y="2971800"/>
            <a:ext cx="1463040" cy="155448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5669280" y="3136392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80%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5715000" y="379476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Reuse threshold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(success rate)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7269480" y="2971800"/>
            <a:ext cx="1463040" cy="155448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7269480" y="3136392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5×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7315200" y="379476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Speedup from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concurrent fixes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9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2A4A"/>
                </a:solidFill>
                <a:latin typeface="Calibri"/>
                <a:ea typeface="Calibri"/>
                <a:cs typeface="Calibri"/>
                <a:sym typeface="Calibri"/>
              </a:rPr>
              <a:t>Security Architecture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AI-generated code runs in a multi-layer sandboxed execution environment.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457200" y="1188720"/>
            <a:ext cx="8229600" cy="612648"/>
          </a:xfrm>
          <a:prstGeom prst="roundRect">
            <a:avLst>
              <a:gd fmla="val 10448" name="adj"/>
            </a:avLst>
          </a:prstGeom>
          <a:solidFill>
            <a:srgbClr val="FFFFFF"/>
          </a:solidFill>
          <a:ln cap="flat" cmpd="sng" w="12700">
            <a:solidFill>
              <a:srgbClr val="DC262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566928" y="1280160"/>
            <a:ext cx="429768" cy="429768"/>
          </a:xfrm>
          <a:prstGeom prst="ellipse">
            <a:avLst/>
          </a:prstGeom>
          <a:solidFill>
            <a:srgbClr val="DC2626">
              <a:alpha val="85098"/>
            </a:srgbClr>
          </a:solidFill>
          <a:ln cap="flat" cmpd="sng" w="12700">
            <a:solidFill>
              <a:srgbClr val="DC2626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06" name="Google Shape;30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31673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9"/>
          <p:cNvSpPr/>
          <p:nvPr/>
        </p:nvSpPr>
        <p:spPr>
          <a:xfrm>
            <a:off x="1097280" y="123444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1. Import Stripping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1097280" y="1490472"/>
            <a:ext cx="7406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All import/from lines stripped before exec() — even if AST passes, no imports reach execution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457200" y="1911096"/>
            <a:ext cx="8229600" cy="612648"/>
          </a:xfrm>
          <a:prstGeom prst="roundRect">
            <a:avLst>
              <a:gd fmla="val 10448" name="adj"/>
            </a:avLst>
          </a:prstGeom>
          <a:solidFill>
            <a:srgbClr val="FFFFFF"/>
          </a:solidFill>
          <a:ln cap="flat" cmpd="sng" w="12700">
            <a:solidFill>
              <a:srgbClr val="D9770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566928" y="2002536"/>
            <a:ext cx="429768" cy="429768"/>
          </a:xfrm>
          <a:prstGeom prst="ellipse">
            <a:avLst/>
          </a:prstGeom>
          <a:solidFill>
            <a:srgbClr val="D97706">
              <a:alpha val="85098"/>
            </a:srgbClr>
          </a:solidFill>
          <a:ln cap="flat" cmpd="sng" w="12700">
            <a:solidFill>
              <a:srgbClr val="D97706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11" name="Google Shape;31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03911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9"/>
          <p:cNvSpPr/>
          <p:nvPr/>
        </p:nvSpPr>
        <p:spPr>
          <a:xfrm>
            <a:off x="1097280" y="1956816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2. AST Pre-Scan (fix_generator.py)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1097280" y="2212848"/>
            <a:ext cx="7406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ast.parse() walks every node — blocks: os.*, sys.*, subprocess.*, eval, exec, open, __import__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457200" y="2633472"/>
            <a:ext cx="8229600" cy="612648"/>
          </a:xfrm>
          <a:prstGeom prst="roundRect">
            <a:avLst>
              <a:gd fmla="val 10448" name="adj"/>
            </a:avLst>
          </a:prstGeom>
          <a:solidFill>
            <a:srgbClr val="FFFFFF"/>
          </a:solidFill>
          <a:ln cap="flat" cmpd="sng" w="12700">
            <a:solidFill>
              <a:srgbClr val="0D94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566928" y="2724912"/>
            <a:ext cx="429768" cy="429768"/>
          </a:xfrm>
          <a:prstGeom prst="ellipse">
            <a:avLst/>
          </a:prstGeom>
          <a:solidFill>
            <a:srgbClr val="0D9488">
              <a:alpha val="85098"/>
            </a:srgbClr>
          </a:solidFill>
          <a:ln cap="flat" cmpd="sng" w="12700">
            <a:solidFill>
              <a:srgbClr val="0D9488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16" name="Google Shape;31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276148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9"/>
          <p:cNvSpPr/>
          <p:nvPr/>
        </p:nvSpPr>
        <p:spPr>
          <a:xfrm>
            <a:off x="1097280" y="267919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3. SAFE_BUILTINS Whitelist (agent_loop.py)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1097280" y="2935224"/>
            <a:ext cx="7406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exec() with custom __builtins__ — only safe ops allowed: str, int, float, len, range, sorted, min, max…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457200" y="3355848"/>
            <a:ext cx="8229600" cy="612648"/>
          </a:xfrm>
          <a:prstGeom prst="roundRect">
            <a:avLst>
              <a:gd fmla="val 10448" name="adj"/>
            </a:avLst>
          </a:prstGeom>
          <a:solidFill>
            <a:srgbClr val="FFFFFF"/>
          </a:solidFill>
          <a:ln cap="flat" cmpd="sng" w="12700">
            <a:solidFill>
              <a:srgbClr val="1D5FA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566928" y="3447288"/>
            <a:ext cx="429768" cy="429768"/>
          </a:xfrm>
          <a:prstGeom prst="ellipse">
            <a:avLst/>
          </a:prstGeom>
          <a:solidFill>
            <a:srgbClr val="1D5FA8">
              <a:alpha val="85098"/>
            </a:srgbClr>
          </a:solidFill>
          <a:ln cap="flat" cmpd="sng" w="12700">
            <a:solidFill>
              <a:srgbClr val="1D5FA8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21" name="Google Shape;321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" y="348386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/>
          <p:nvPr/>
        </p:nvSpPr>
        <p:spPr>
          <a:xfrm>
            <a:off x="1097280" y="3401568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FA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D5FA8"/>
                </a:solidFill>
                <a:latin typeface="Calibri"/>
                <a:ea typeface="Calibri"/>
                <a:cs typeface="Calibri"/>
                <a:sym typeface="Calibri"/>
              </a:rPr>
              <a:t>4. SQL Safety Gate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1097280" y="3657600"/>
            <a:ext cx="7406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Only UPDATE/INSERT/DELETE allowed · DROP/TRUNCATE/ALTER/CREATE/GRANT blocked · in-memory SQLite only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457200" y="4078224"/>
            <a:ext cx="8229600" cy="612648"/>
          </a:xfrm>
          <a:prstGeom prst="roundRect">
            <a:avLst>
              <a:gd fmla="val 10448" name="adj"/>
            </a:avLst>
          </a:prstGeom>
          <a:solidFill>
            <a:srgbClr val="FFFFFF"/>
          </a:solidFill>
          <a:ln cap="flat" cmpd="sng" w="12700">
            <a:solidFill>
              <a:srgbClr val="7C3AE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566928" y="4169664"/>
            <a:ext cx="429768" cy="429768"/>
          </a:xfrm>
          <a:prstGeom prst="ellipse">
            <a:avLst/>
          </a:prstGeom>
          <a:solidFill>
            <a:srgbClr val="7C3AED">
              <a:alpha val="85098"/>
            </a:srgbClr>
          </a:solidFill>
          <a:ln cap="flat" cmpd="sng" w="12700">
            <a:solidFill>
              <a:srgbClr val="7C3A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26" name="Google Shape;326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0080" y="42062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9"/>
          <p:cNvSpPr/>
          <p:nvPr/>
        </p:nvSpPr>
        <p:spPr>
          <a:xfrm>
            <a:off x="1097280" y="4123944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5. Thread-Safe Writes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1097280" y="4379976"/>
            <a:ext cx="7406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threading.Lock() on all SQLite writes — prevents corruption from ThreadPoolExecutor concurrent writes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2A4A"/>
                </a:solidFill>
                <a:latin typeface="Calibri"/>
                <a:ea typeface="Calibri"/>
                <a:cs typeface="Calibri"/>
                <a:sym typeface="Calibri"/>
              </a:rPr>
              <a:t>Database Schema — 5 SQLite Tables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Full audit trail of every pipeline run, failure, fix, memory record, and rule set.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411480" y="1234440"/>
            <a:ext cx="2743200" cy="1783080"/>
          </a:xfrm>
          <a:prstGeom prst="roundRect">
            <a:avLst>
              <a:gd fmla="val 4103" name="adj"/>
            </a:avLst>
          </a:prstGeom>
          <a:solidFill>
            <a:srgbClr val="FFFFFF"/>
          </a:solidFill>
          <a:ln cap="flat" cmpd="sng" w="12700">
            <a:solidFill>
              <a:srgbClr val="1D5FA8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411480" y="1207008"/>
            <a:ext cx="2743200" cy="384048"/>
          </a:xfrm>
          <a:prstGeom prst="roundRect">
            <a:avLst>
              <a:gd fmla="val 19048" name="adj"/>
            </a:avLst>
          </a:prstGeom>
          <a:solidFill>
            <a:srgbClr val="1D5FA8">
              <a:alpha val="90196"/>
            </a:srgbClr>
          </a:solidFill>
          <a:ln cap="flat" cmpd="sng" w="12700">
            <a:solidFill>
              <a:srgbClr val="1D5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502920" y="128930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validation_runs</a:t>
            </a:r>
            <a:endParaRPr b="0" i="0" sz="1100" u="none" cap="none" strike="noStrike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502920" y="1673352"/>
            <a:ext cx="256032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· id (UUID)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502920" y="1833372"/>
            <a:ext cx="256032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· filename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502920" y="1993392"/>
            <a:ext cx="256032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· total_rows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502920" y="2153412"/>
            <a:ext cx="256032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· passed_checks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502920" y="2313432"/>
            <a:ext cx="256032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· failed_checks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502920" y="2473452"/>
            <a:ext cx="256032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· success_rate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502920" y="2633472"/>
            <a:ext cx="256032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· duration_sec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502920" y="2793492"/>
            <a:ext cx="256032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· iterations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3319272" y="1234440"/>
            <a:ext cx="2743200" cy="1783080"/>
          </a:xfrm>
          <a:prstGeom prst="roundRect">
            <a:avLst>
              <a:gd fmla="val 4103" name="adj"/>
            </a:avLst>
          </a:prstGeom>
          <a:solidFill>
            <a:srgbClr val="FFFFFF"/>
          </a:solidFill>
          <a:ln cap="flat" cmpd="sng" w="12700">
            <a:solidFill>
              <a:srgbClr val="DC2626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3319272" y="1234440"/>
            <a:ext cx="2743200" cy="384048"/>
          </a:xfrm>
          <a:prstGeom prst="roundRect">
            <a:avLst>
              <a:gd fmla="val 19048" name="adj"/>
            </a:avLst>
          </a:prstGeom>
          <a:solidFill>
            <a:srgbClr val="DC2626">
              <a:alpha val="90196"/>
            </a:srgbClr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3410712" y="128930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validation_failures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3410712" y="1673352"/>
            <a:ext cx="256032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· id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3410712" y="1833372"/>
            <a:ext cx="256032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· run_id (FK)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3410712" y="1993392"/>
            <a:ext cx="256032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· check_name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3410712" y="2153412"/>
            <a:ext cx="256032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· column_name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3410712" y="2313432"/>
            <a:ext cx="256032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· failure_count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3410712" y="2473452"/>
            <a:ext cx="256032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· failure_pct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3410712" y="2633472"/>
            <a:ext cx="256032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· severity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3410712" y="2793492"/>
            <a:ext cx="256032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· sample_bad_rows_json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6227064" y="1234440"/>
            <a:ext cx="2743200" cy="1783080"/>
          </a:xfrm>
          <a:prstGeom prst="roundRect">
            <a:avLst>
              <a:gd fmla="val 4103" name="adj"/>
            </a:avLst>
          </a:prstGeom>
          <a:solidFill>
            <a:srgbClr val="FFFFFF"/>
          </a:solidFill>
          <a:ln cap="flat" cmpd="sng" w="12700">
            <a:solidFill>
              <a:srgbClr val="0D9488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6227064" y="1234440"/>
            <a:ext cx="2743200" cy="384048"/>
          </a:xfrm>
          <a:prstGeom prst="roundRect">
            <a:avLst>
              <a:gd fmla="val 19048" name="adj"/>
            </a:avLst>
          </a:prstGeom>
          <a:solidFill>
            <a:srgbClr val="0D9488">
              <a:alpha val="90196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6318504" y="128930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generated_fixes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6318504" y="1673352"/>
            <a:ext cx="256032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· id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6318504" y="1833372"/>
            <a:ext cx="256032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· failure_id (FK)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6318504" y="1993392"/>
            <a:ext cx="256032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· run_id (FK)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6318504" y="2153412"/>
            <a:ext cx="256032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· pandas_fix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6318504" y="2313432"/>
            <a:ext cx="256032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· sql_fix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6318504" y="2473452"/>
            <a:ext cx="256032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· confidence_score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6318504" y="2633472"/>
            <a:ext cx="256032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· fix_valid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6318504" y="2793492"/>
            <a:ext cx="256032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· was_applied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411480" y="3218688"/>
            <a:ext cx="4023360" cy="16002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12700">
            <a:solidFill>
              <a:srgbClr val="7C3AED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411480" y="3218688"/>
            <a:ext cx="4023360" cy="384048"/>
          </a:xfrm>
          <a:prstGeom prst="roundRect">
            <a:avLst>
              <a:gd fmla="val 19048" name="adj"/>
            </a:avLst>
          </a:prstGeom>
          <a:solidFill>
            <a:srgbClr val="7C3AED">
              <a:alpha val="90196"/>
            </a:srgbClr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502920" y="327355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agent_memory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502920" y="365760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· id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502920" y="391363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· failure_pattern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502920" y="416966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· root_cause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502920" y="442569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· successful_fix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2423160" y="365760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· success_count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2423160" y="391363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· fail_count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2423160" y="416966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· avg_improvement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2423160" y="442569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· last_seen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4709160" y="3218688"/>
            <a:ext cx="4023360" cy="16002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12700">
            <a:solidFill>
              <a:srgbClr val="D97706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4709160" y="3218688"/>
            <a:ext cx="4023360" cy="384048"/>
          </a:xfrm>
          <a:prstGeom prst="roundRect">
            <a:avLst>
              <a:gd fmla="val 19048" name="adj"/>
            </a:avLst>
          </a:prstGeom>
          <a:solidFill>
            <a:srgbClr val="D97706">
              <a:alpha val="90196"/>
            </a:srgbClr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4800600" y="327355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generated_rules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4800600" y="365760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· id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4800600" y="391363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· natural_language_input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4800600" y="416966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· yaml_output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4800600" y="442569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· created_at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0"/>
          <p:cNvSpPr/>
          <p:nvPr/>
        </p:nvSpPr>
        <p:spPr>
          <a:xfrm>
            <a:off x="6720840" y="365760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· times_used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2A4A"/>
                </a:solidFill>
                <a:latin typeface="Calibri"/>
                <a:ea typeface="Calibri"/>
                <a:cs typeface="Calibri"/>
                <a:sym typeface="Calibri"/>
              </a:rPr>
              <a:t>Complete User Journey — 8 Steps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From upload to cleaned downloadable file — no code required.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384048" y="1234440"/>
            <a:ext cx="2011680" cy="1664208"/>
          </a:xfrm>
          <a:prstGeom prst="roundRect">
            <a:avLst>
              <a:gd fmla="val 439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1"/>
          <p:cNvSpPr/>
          <p:nvPr/>
        </p:nvSpPr>
        <p:spPr>
          <a:xfrm>
            <a:off x="429768" y="1307592"/>
            <a:ext cx="457200" cy="457200"/>
          </a:xfrm>
          <a:prstGeom prst="ellipse">
            <a:avLst/>
          </a:prstGeom>
          <a:solidFill>
            <a:srgbClr val="1D5FA8">
              <a:alpha val="94901"/>
            </a:srgbClr>
          </a:solidFill>
          <a:ln cap="flat" cmpd="sng" w="12700">
            <a:solidFill>
              <a:srgbClr val="1D5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1"/>
          <p:cNvSpPr/>
          <p:nvPr/>
        </p:nvSpPr>
        <p:spPr>
          <a:xfrm>
            <a:off x="429768" y="13075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1"/>
          <p:cNvSpPr/>
          <p:nvPr/>
        </p:nvSpPr>
        <p:spPr>
          <a:xfrm>
            <a:off x="475488" y="182880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A4A"/>
                </a:solidFill>
                <a:latin typeface="Calibri"/>
                <a:ea typeface="Calibri"/>
                <a:cs typeface="Calibri"/>
                <a:sym typeface="Calibri"/>
              </a:rPr>
              <a:t>Upload File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1"/>
          <p:cNvSpPr/>
          <p:nvPr/>
        </p:nvSpPr>
        <p:spPr>
          <a:xfrm>
            <a:off x="475488" y="2212848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CSV/Parquet + optional YAML rules → instant schema profile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1"/>
          <p:cNvSpPr/>
          <p:nvPr/>
        </p:nvSpPr>
        <p:spPr>
          <a:xfrm>
            <a:off x="2532888" y="1234440"/>
            <a:ext cx="2011680" cy="1664208"/>
          </a:xfrm>
          <a:prstGeom prst="roundRect">
            <a:avLst>
              <a:gd fmla="val 439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1"/>
          <p:cNvSpPr/>
          <p:nvPr/>
        </p:nvSpPr>
        <p:spPr>
          <a:xfrm>
            <a:off x="2578608" y="1307592"/>
            <a:ext cx="457200" cy="457200"/>
          </a:xfrm>
          <a:prstGeom prst="ellipse">
            <a:avLst/>
          </a:prstGeom>
          <a:solidFill>
            <a:srgbClr val="7C3AED">
              <a:alpha val="94901"/>
            </a:srgbClr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1"/>
          <p:cNvSpPr/>
          <p:nvPr/>
        </p:nvSpPr>
        <p:spPr>
          <a:xfrm>
            <a:off x="2578608" y="13075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1"/>
          <p:cNvSpPr/>
          <p:nvPr/>
        </p:nvSpPr>
        <p:spPr>
          <a:xfrm>
            <a:off x="2624328" y="182880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A4A"/>
                </a:solidFill>
                <a:latin typeface="Calibri"/>
                <a:ea typeface="Calibri"/>
                <a:cs typeface="Calibri"/>
                <a:sym typeface="Calibri"/>
              </a:rPr>
              <a:t>Auto-Rule Generation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1"/>
          <p:cNvSpPr/>
          <p:nvPr/>
        </p:nvSpPr>
        <p:spPr>
          <a:xfrm>
            <a:off x="2624328" y="2212848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Groq profiles columns → generates YAML rules automatically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4681728" y="1234440"/>
            <a:ext cx="2011680" cy="1664208"/>
          </a:xfrm>
          <a:prstGeom prst="roundRect">
            <a:avLst>
              <a:gd fmla="val 439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1"/>
          <p:cNvSpPr/>
          <p:nvPr/>
        </p:nvSpPr>
        <p:spPr>
          <a:xfrm>
            <a:off x="4727448" y="1307592"/>
            <a:ext cx="457200" cy="457200"/>
          </a:xfrm>
          <a:prstGeom prst="ellipse">
            <a:avLst/>
          </a:prstGeom>
          <a:solidFill>
            <a:srgbClr val="0D9488">
              <a:alpha val="94901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1"/>
          <p:cNvSpPr/>
          <p:nvPr/>
        </p:nvSpPr>
        <p:spPr>
          <a:xfrm>
            <a:off x="4727448" y="13075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1"/>
          <p:cNvSpPr/>
          <p:nvPr/>
        </p:nvSpPr>
        <p:spPr>
          <a:xfrm>
            <a:off x="4773168" y="182880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A4A"/>
                </a:solidFill>
                <a:latin typeface="Calibri"/>
                <a:ea typeface="Calibri"/>
                <a:cs typeface="Calibri"/>
                <a:sym typeface="Calibri"/>
              </a:rPr>
              <a:t>Run AI Pipeline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4773168" y="2212848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6-stage agent loop → progress bar → improvement 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1"/>
          <p:cNvSpPr/>
          <p:nvPr/>
        </p:nvSpPr>
        <p:spPr>
          <a:xfrm>
            <a:off x="6830568" y="1234440"/>
            <a:ext cx="2011680" cy="1664208"/>
          </a:xfrm>
          <a:prstGeom prst="roundRect">
            <a:avLst>
              <a:gd fmla="val 439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1"/>
          <p:cNvSpPr/>
          <p:nvPr/>
        </p:nvSpPr>
        <p:spPr>
          <a:xfrm>
            <a:off x="6876288" y="1307592"/>
            <a:ext cx="457200" cy="457200"/>
          </a:xfrm>
          <a:prstGeom prst="ellipse">
            <a:avLst/>
          </a:prstGeom>
          <a:solidFill>
            <a:srgbClr val="D97706">
              <a:alpha val="94901"/>
            </a:srgbClr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1"/>
          <p:cNvSpPr/>
          <p:nvPr/>
        </p:nvSpPr>
        <p:spPr>
          <a:xfrm>
            <a:off x="6876288" y="13075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1"/>
          <p:cNvSpPr/>
          <p:nvPr/>
        </p:nvSpPr>
        <p:spPr>
          <a:xfrm>
            <a:off x="6922008" y="182880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A4A"/>
                </a:solidFill>
                <a:latin typeface="Calibri"/>
                <a:ea typeface="Calibri"/>
                <a:cs typeface="Calibri"/>
                <a:sym typeface="Calibri"/>
              </a:rPr>
              <a:t>Validation Results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6922008" y="2212848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KPI row + donut pie + check table + severity breakdown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1"/>
          <p:cNvSpPr/>
          <p:nvPr/>
        </p:nvSpPr>
        <p:spPr>
          <a:xfrm>
            <a:off x="384048" y="3081528"/>
            <a:ext cx="2011680" cy="1664208"/>
          </a:xfrm>
          <a:prstGeom prst="roundRect">
            <a:avLst>
              <a:gd fmla="val 439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429768" y="3154680"/>
            <a:ext cx="457200" cy="457200"/>
          </a:xfrm>
          <a:prstGeom prst="ellipse">
            <a:avLst/>
          </a:prstGeom>
          <a:solidFill>
            <a:srgbClr val="DC2626">
              <a:alpha val="94901"/>
            </a:srgbClr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1"/>
          <p:cNvSpPr/>
          <p:nvPr/>
        </p:nvSpPr>
        <p:spPr>
          <a:xfrm>
            <a:off x="429768" y="3154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1"/>
          <p:cNvSpPr/>
          <p:nvPr/>
        </p:nvSpPr>
        <p:spPr>
          <a:xfrm>
            <a:off x="475488" y="3675888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A4A"/>
                </a:solidFill>
                <a:latin typeface="Calibri"/>
                <a:ea typeface="Calibri"/>
                <a:cs typeface="Calibri"/>
                <a:sym typeface="Calibri"/>
              </a:rPr>
              <a:t>Failure Explorer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1"/>
          <p:cNvSpPr/>
          <p:nvPr/>
        </p:nvSpPr>
        <p:spPr>
          <a:xfrm>
            <a:off x="475488" y="4059936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Drill into any failed check → sample bad rows → download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1"/>
          <p:cNvSpPr/>
          <p:nvPr/>
        </p:nvSpPr>
        <p:spPr>
          <a:xfrm>
            <a:off x="2532888" y="3081528"/>
            <a:ext cx="2011680" cy="1664208"/>
          </a:xfrm>
          <a:prstGeom prst="roundRect">
            <a:avLst>
              <a:gd fmla="val 439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2578608" y="3154680"/>
            <a:ext cx="457200" cy="457200"/>
          </a:xfrm>
          <a:prstGeom prst="ellipse">
            <a:avLst/>
          </a:prstGeom>
          <a:solidFill>
            <a:srgbClr val="1D5FA8">
              <a:alpha val="94901"/>
            </a:srgbClr>
          </a:solidFill>
          <a:ln cap="flat" cmpd="sng" w="12700">
            <a:solidFill>
              <a:srgbClr val="1D5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2578608" y="3154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1"/>
          <p:cNvSpPr/>
          <p:nvPr/>
        </p:nvSpPr>
        <p:spPr>
          <a:xfrm>
            <a:off x="2624328" y="3675888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A4A"/>
                </a:solidFill>
                <a:latin typeface="Calibri"/>
                <a:ea typeface="Calibri"/>
                <a:cs typeface="Calibri"/>
                <a:sym typeface="Calibri"/>
              </a:rPr>
              <a:t>Apply AI Fixes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1"/>
          <p:cNvSpPr/>
          <p:nvPr/>
        </p:nvSpPr>
        <p:spPr>
          <a:xfrm>
            <a:off x="2624328" y="4059936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Python or SQL fix with confidence score → sandbox apply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1"/>
          <p:cNvSpPr/>
          <p:nvPr/>
        </p:nvSpPr>
        <p:spPr>
          <a:xfrm>
            <a:off x="4681728" y="3081528"/>
            <a:ext cx="2011680" cy="1664208"/>
          </a:xfrm>
          <a:prstGeom prst="roundRect">
            <a:avLst>
              <a:gd fmla="val 439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1"/>
          <p:cNvSpPr/>
          <p:nvPr/>
        </p:nvSpPr>
        <p:spPr>
          <a:xfrm>
            <a:off x="4727448" y="3154680"/>
            <a:ext cx="457200" cy="457200"/>
          </a:xfrm>
          <a:prstGeom prst="ellipse">
            <a:avLst/>
          </a:prstGeom>
          <a:solidFill>
            <a:srgbClr val="7C3AED">
              <a:alpha val="94901"/>
            </a:srgbClr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1"/>
          <p:cNvSpPr/>
          <p:nvPr/>
        </p:nvSpPr>
        <p:spPr>
          <a:xfrm>
            <a:off x="4727448" y="3154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1"/>
          <p:cNvSpPr/>
          <p:nvPr/>
        </p:nvSpPr>
        <p:spPr>
          <a:xfrm>
            <a:off x="4773168" y="3675888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A4A"/>
                </a:solidFill>
                <a:latin typeface="Calibri"/>
                <a:ea typeface="Calibri"/>
                <a:cs typeface="Calibri"/>
                <a:sym typeface="Calibri"/>
              </a:rPr>
              <a:t>AI Chat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1"/>
          <p:cNvSpPr/>
          <p:nvPr/>
        </p:nvSpPr>
        <p:spPr>
          <a:xfrm>
            <a:off x="4773168" y="4059936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Ask questions about results → context-aware AI answers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1"/>
          <p:cNvSpPr/>
          <p:nvPr/>
        </p:nvSpPr>
        <p:spPr>
          <a:xfrm>
            <a:off x="6830568" y="3081528"/>
            <a:ext cx="2011680" cy="1664208"/>
          </a:xfrm>
          <a:prstGeom prst="roundRect">
            <a:avLst>
              <a:gd fmla="val 439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1"/>
          <p:cNvSpPr/>
          <p:nvPr/>
        </p:nvSpPr>
        <p:spPr>
          <a:xfrm>
            <a:off x="6876288" y="3154680"/>
            <a:ext cx="457200" cy="457200"/>
          </a:xfrm>
          <a:prstGeom prst="ellipse">
            <a:avLst/>
          </a:prstGeom>
          <a:solidFill>
            <a:srgbClr val="16A34A">
              <a:alpha val="94901"/>
            </a:srgbClr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1"/>
          <p:cNvSpPr/>
          <p:nvPr/>
        </p:nvSpPr>
        <p:spPr>
          <a:xfrm>
            <a:off x="6876288" y="3154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1"/>
          <p:cNvSpPr/>
          <p:nvPr/>
        </p:nvSpPr>
        <p:spPr>
          <a:xfrm>
            <a:off x="6922008" y="3675888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A4A"/>
                </a:solidFill>
                <a:latin typeface="Calibri"/>
                <a:ea typeface="Calibri"/>
                <a:cs typeface="Calibri"/>
                <a:sym typeface="Calibri"/>
              </a:rPr>
              <a:t>Download Cleaned File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1"/>
          <p:cNvSpPr/>
          <p:nvPr/>
        </p:nvSpPr>
        <p:spPr>
          <a:xfrm>
            <a:off x="6922008" y="4059936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Repaired dataset + original snapshot → audit trail preserved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2A4A"/>
                </a:solidFill>
                <a:latin typeface="Calibri"/>
                <a:ea typeface="Calibri"/>
                <a:cs typeface="Calibri"/>
                <a:sym typeface="Calibri"/>
              </a:rPr>
              <a:t>Real-World Use Cases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DQ Guardian AI solves real data engineering problems across every industry.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2"/>
          <p:cNvSpPr/>
          <p:nvPr/>
        </p:nvSpPr>
        <p:spPr>
          <a:xfrm>
            <a:off x="457200" y="1234440"/>
            <a:ext cx="8229600" cy="768096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 cap="flat" cmpd="sng" w="12700">
            <a:solidFill>
              <a:srgbClr val="1D5FA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2"/>
          <p:cNvSpPr/>
          <p:nvPr/>
        </p:nvSpPr>
        <p:spPr>
          <a:xfrm>
            <a:off x="457200" y="1234440"/>
            <a:ext cx="1371600" cy="768096"/>
          </a:xfrm>
          <a:prstGeom prst="roundRect">
            <a:avLst>
              <a:gd fmla="val 9524" name="adj"/>
            </a:avLst>
          </a:prstGeom>
          <a:solidFill>
            <a:srgbClr val="1D5FA8">
              <a:alpha val="87843"/>
            </a:srgbClr>
          </a:solidFill>
          <a:ln cap="flat" cmpd="sng" w="12700">
            <a:solidFill>
              <a:srgbClr val="1D5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2"/>
          <p:cNvSpPr/>
          <p:nvPr/>
        </p:nvSpPr>
        <p:spPr>
          <a:xfrm>
            <a:off x="457200" y="1289304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Finance</a:t>
            </a:r>
            <a:endParaRPr b="0" i="0" sz="1100" u="none" cap="none" strike="noStrike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2"/>
          <p:cNvSpPr/>
          <p:nvPr/>
        </p:nvSpPr>
        <p:spPr>
          <a:xfrm>
            <a:off x="1920240" y="1298448"/>
            <a:ext cx="4389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Validate transaction files for null amounts, duplicate IDs, out-of-range values before settlement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6400801" y="1298448"/>
            <a:ext cx="1709224" cy="292608"/>
          </a:xfrm>
          <a:prstGeom prst="roundRect">
            <a:avLst>
              <a:gd fmla="val 12500" name="adj"/>
            </a:avLst>
          </a:prstGeom>
          <a:solidFill>
            <a:srgbClr val="FEE2E2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2"/>
          <p:cNvSpPr/>
          <p:nvPr/>
        </p:nvSpPr>
        <p:spPr>
          <a:xfrm>
            <a:off x="6446520" y="1298448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Before: 3 hrs/day manual cleaning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2"/>
          <p:cNvSpPr/>
          <p:nvPr/>
        </p:nvSpPr>
        <p:spPr>
          <a:xfrm>
            <a:off x="6400801" y="1655064"/>
            <a:ext cx="1709224" cy="292608"/>
          </a:xfrm>
          <a:prstGeom prst="roundRect">
            <a:avLst>
              <a:gd fmla="val 12500" name="adj"/>
            </a:avLst>
          </a:prstGeom>
          <a:solidFill>
            <a:srgbClr val="DCFCE7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2"/>
          <p:cNvSpPr/>
          <p:nvPr/>
        </p:nvSpPr>
        <p:spPr>
          <a:xfrm>
            <a:off x="6446520" y="1655064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After: 10 seconds automated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2"/>
          <p:cNvSpPr/>
          <p:nvPr/>
        </p:nvSpPr>
        <p:spPr>
          <a:xfrm>
            <a:off x="457200" y="2139696"/>
            <a:ext cx="8229600" cy="768096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 cap="flat" cmpd="sng" w="12700">
            <a:solidFill>
              <a:srgbClr val="0D948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2"/>
          <p:cNvSpPr/>
          <p:nvPr/>
        </p:nvSpPr>
        <p:spPr>
          <a:xfrm>
            <a:off x="457200" y="2139696"/>
            <a:ext cx="1371600" cy="768096"/>
          </a:xfrm>
          <a:prstGeom prst="roundRect">
            <a:avLst>
              <a:gd fmla="val 9524" name="adj"/>
            </a:avLst>
          </a:prstGeom>
          <a:solidFill>
            <a:srgbClr val="0D9488">
              <a:alpha val="87843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2"/>
          <p:cNvSpPr/>
          <p:nvPr/>
        </p:nvSpPr>
        <p:spPr>
          <a:xfrm>
            <a:off x="457200" y="219456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Healthcare</a:t>
            </a:r>
            <a:endParaRPr b="0" i="0" sz="1100" u="none" cap="none" strike="noStrike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2"/>
          <p:cNvSpPr/>
          <p:nvPr/>
        </p:nvSpPr>
        <p:spPr>
          <a:xfrm>
            <a:off x="1920240" y="2203704"/>
            <a:ext cx="4389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Patient records: discharge_date must be after admission_date — cross-column rule enforced automatically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6392007" y="2221289"/>
            <a:ext cx="1663506" cy="292608"/>
          </a:xfrm>
          <a:prstGeom prst="roundRect">
            <a:avLst>
              <a:gd fmla="val 12500" name="adj"/>
            </a:avLst>
          </a:prstGeom>
          <a:solidFill>
            <a:srgbClr val="FEE2E2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2"/>
          <p:cNvSpPr/>
          <p:nvPr/>
        </p:nvSpPr>
        <p:spPr>
          <a:xfrm>
            <a:off x="6400802" y="2203704"/>
            <a:ext cx="187100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Before: Manual compliance checks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2"/>
          <p:cNvSpPr/>
          <p:nvPr/>
        </p:nvSpPr>
        <p:spPr>
          <a:xfrm>
            <a:off x="6400804" y="2550473"/>
            <a:ext cx="1663504" cy="292608"/>
          </a:xfrm>
          <a:prstGeom prst="roundRect">
            <a:avLst>
              <a:gd fmla="val 12500" name="adj"/>
            </a:avLst>
          </a:prstGeom>
          <a:solidFill>
            <a:srgbClr val="DCFCE7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2"/>
          <p:cNvSpPr/>
          <p:nvPr/>
        </p:nvSpPr>
        <p:spPr>
          <a:xfrm>
            <a:off x="6446520" y="256032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After: CrossColumnCheck rule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2"/>
          <p:cNvSpPr/>
          <p:nvPr/>
        </p:nvSpPr>
        <p:spPr>
          <a:xfrm>
            <a:off x="457200" y="3044952"/>
            <a:ext cx="8229600" cy="768096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 cap="flat" cmpd="sng" w="12700">
            <a:solidFill>
              <a:srgbClr val="D9770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2"/>
          <p:cNvSpPr/>
          <p:nvPr/>
        </p:nvSpPr>
        <p:spPr>
          <a:xfrm>
            <a:off x="457200" y="3044952"/>
            <a:ext cx="1371600" cy="768096"/>
          </a:xfrm>
          <a:prstGeom prst="roundRect">
            <a:avLst>
              <a:gd fmla="val 9524" name="adj"/>
            </a:avLst>
          </a:prstGeom>
          <a:solidFill>
            <a:srgbClr val="D97706">
              <a:alpha val="87843"/>
            </a:srgbClr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2"/>
          <p:cNvSpPr/>
          <p:nvPr/>
        </p:nvSpPr>
        <p:spPr>
          <a:xfrm>
            <a:off x="457200" y="3099816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E-Commerce</a:t>
            </a:r>
            <a:endParaRPr b="0" i="0" sz="1100" u="none" cap="none" strike="noStrike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2"/>
          <p:cNvSpPr/>
          <p:nvPr/>
        </p:nvSpPr>
        <p:spPr>
          <a:xfrm>
            <a:off x="1920240" y="3108960"/>
            <a:ext cx="4389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Daily POS CSV: 3% null customer IDs, 1% negative revenue, inconsistent email formats — all caught &amp; fixed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2"/>
          <p:cNvSpPr/>
          <p:nvPr/>
        </p:nvSpPr>
        <p:spPr>
          <a:xfrm>
            <a:off x="6400804" y="3099816"/>
            <a:ext cx="1663504" cy="292608"/>
          </a:xfrm>
          <a:prstGeom prst="roundRect">
            <a:avLst>
              <a:gd fmla="val 12500" name="adj"/>
            </a:avLst>
          </a:prstGeom>
          <a:solidFill>
            <a:srgbClr val="FEE2E2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2"/>
          <p:cNvSpPr/>
          <p:nvPr/>
        </p:nvSpPr>
        <p:spPr>
          <a:xfrm>
            <a:off x="6446520" y="310896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Before: 2–3 hrs every morning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2"/>
          <p:cNvSpPr/>
          <p:nvPr/>
        </p:nvSpPr>
        <p:spPr>
          <a:xfrm>
            <a:off x="6400804" y="3465576"/>
            <a:ext cx="1663505" cy="292608"/>
          </a:xfrm>
          <a:prstGeom prst="roundRect">
            <a:avLst>
              <a:gd fmla="val 12500" name="adj"/>
            </a:avLst>
          </a:prstGeom>
          <a:solidFill>
            <a:srgbClr val="DCFCE7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2"/>
          <p:cNvSpPr/>
          <p:nvPr/>
        </p:nvSpPr>
        <p:spPr>
          <a:xfrm>
            <a:off x="6446520" y="3465576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After: &lt; 10 seconds pipeline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2"/>
          <p:cNvSpPr/>
          <p:nvPr/>
        </p:nvSpPr>
        <p:spPr>
          <a:xfrm>
            <a:off x="457200" y="3950208"/>
            <a:ext cx="8229600" cy="768096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 cap="flat" cmpd="sng" w="12700">
            <a:solidFill>
              <a:srgbClr val="7C3AED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2"/>
          <p:cNvSpPr/>
          <p:nvPr/>
        </p:nvSpPr>
        <p:spPr>
          <a:xfrm>
            <a:off x="457200" y="3950208"/>
            <a:ext cx="1371600" cy="768096"/>
          </a:xfrm>
          <a:prstGeom prst="roundRect">
            <a:avLst>
              <a:gd fmla="val 9524" name="adj"/>
            </a:avLst>
          </a:prstGeom>
          <a:solidFill>
            <a:srgbClr val="7C3AED">
              <a:alpha val="87843"/>
            </a:srgbClr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2"/>
          <p:cNvSpPr/>
          <p:nvPr/>
        </p:nvSpPr>
        <p:spPr>
          <a:xfrm>
            <a:off x="457200" y="4005072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Startup (No DT)</a:t>
            </a:r>
            <a:endParaRPr b="0" i="0" sz="1100" u="none" cap="none" strike="noStrike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2"/>
          <p:cNvSpPr/>
          <p:nvPr/>
        </p:nvSpPr>
        <p:spPr>
          <a:xfrm>
            <a:off x="1920240" y="4014216"/>
            <a:ext cx="4389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Product manager uploads CSV → gets AI report + plain-English fixes → downloads clean data. No engineer needed.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2"/>
          <p:cNvSpPr/>
          <p:nvPr/>
        </p:nvSpPr>
        <p:spPr>
          <a:xfrm>
            <a:off x="6428941" y="4032504"/>
            <a:ext cx="1663504" cy="292608"/>
          </a:xfrm>
          <a:prstGeom prst="roundRect">
            <a:avLst>
              <a:gd fmla="val 12500" name="adj"/>
            </a:avLst>
          </a:prstGeom>
          <a:solidFill>
            <a:srgbClr val="FEE2E2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2"/>
          <p:cNvSpPr/>
          <p:nvPr/>
        </p:nvSpPr>
        <p:spPr>
          <a:xfrm>
            <a:off x="6446520" y="4014216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Before: No data team → no checks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2"/>
          <p:cNvSpPr/>
          <p:nvPr/>
        </p:nvSpPr>
        <p:spPr>
          <a:xfrm>
            <a:off x="6428941" y="4361688"/>
            <a:ext cx="1663506" cy="292608"/>
          </a:xfrm>
          <a:prstGeom prst="roundRect">
            <a:avLst>
              <a:gd fmla="val 12500" name="adj"/>
            </a:avLst>
          </a:prstGeom>
          <a:solidFill>
            <a:srgbClr val="DCFCE7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2"/>
          <p:cNvSpPr/>
          <p:nvPr/>
        </p:nvSpPr>
        <p:spPr>
          <a:xfrm>
            <a:off x="6446520" y="437083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After: Full AI validation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3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2A4A"/>
                </a:solidFill>
                <a:latin typeface="Calibri"/>
                <a:ea typeface="Calibri"/>
                <a:cs typeface="Calibri"/>
                <a:sym typeface="Calibri"/>
              </a:rPr>
              <a:t>Key Technical Innovations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3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What makes DQ Guardian AI genuinely novel — not just an API wrapper.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3"/>
          <p:cNvSpPr/>
          <p:nvPr/>
        </p:nvSpPr>
        <p:spPr>
          <a:xfrm>
            <a:off x="411480" y="1234440"/>
            <a:ext cx="4069080" cy="1170432"/>
          </a:xfrm>
          <a:prstGeom prst="roundRect">
            <a:avLst>
              <a:gd fmla="val 703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3"/>
          <p:cNvSpPr/>
          <p:nvPr/>
        </p:nvSpPr>
        <p:spPr>
          <a:xfrm>
            <a:off x="502920" y="1344168"/>
            <a:ext cx="566928" cy="566928"/>
          </a:xfrm>
          <a:prstGeom prst="ellipse">
            <a:avLst/>
          </a:prstGeom>
          <a:solidFill>
            <a:srgbClr val="7C3AED">
              <a:alpha val="87843"/>
            </a:srgbClr>
          </a:solidFill>
          <a:ln cap="flat" cmpd="sng" w="12700">
            <a:solidFill>
              <a:srgbClr val="7C3AED">
                <a:alpha val="8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83" name="Google Shape;48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216" y="141732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13"/>
          <p:cNvSpPr/>
          <p:nvPr/>
        </p:nvSpPr>
        <p:spPr>
          <a:xfrm>
            <a:off x="1188720" y="130759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Memory-Augmented Agent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3"/>
          <p:cNvSpPr/>
          <p:nvPr/>
        </p:nvSpPr>
        <p:spPr>
          <a:xfrm>
            <a:off x="1188720" y="1636776"/>
            <a:ext cx="32004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Most data tools are stateless. DQ Guardian's agent_memory creates a real learning curve — the system measurably improves across runs.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3"/>
          <p:cNvSpPr/>
          <p:nvPr/>
        </p:nvSpPr>
        <p:spPr>
          <a:xfrm>
            <a:off x="4709160" y="1234440"/>
            <a:ext cx="4069080" cy="1170432"/>
          </a:xfrm>
          <a:prstGeom prst="roundRect">
            <a:avLst>
              <a:gd fmla="val 703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3"/>
          <p:cNvSpPr/>
          <p:nvPr/>
        </p:nvSpPr>
        <p:spPr>
          <a:xfrm>
            <a:off x="4800600" y="1344168"/>
            <a:ext cx="566928" cy="566928"/>
          </a:xfrm>
          <a:prstGeom prst="ellipse">
            <a:avLst/>
          </a:prstGeom>
          <a:solidFill>
            <a:srgbClr val="0D9488">
              <a:alpha val="87843"/>
            </a:srgbClr>
          </a:solidFill>
          <a:ln cap="flat" cmpd="sng" w="12700">
            <a:solidFill>
              <a:srgbClr val="0D9488">
                <a:alpha val="8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88" name="Google Shape;4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2896" y="141732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13"/>
          <p:cNvSpPr/>
          <p:nvPr/>
        </p:nvSpPr>
        <p:spPr>
          <a:xfrm>
            <a:off x="5486400" y="130759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Cross-Column Validation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3"/>
          <p:cNvSpPr/>
          <p:nvPr/>
        </p:nvSpPr>
        <p:spPr>
          <a:xfrm>
            <a:off x="5486400" y="1636776"/>
            <a:ext cx="32004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 single-column validator can express 'end_date &gt; start_date'. CrossColumnCheck enables row-wise multi-column logic with date parsing.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3"/>
          <p:cNvSpPr/>
          <p:nvPr/>
        </p:nvSpPr>
        <p:spPr>
          <a:xfrm>
            <a:off x="411480" y="2532888"/>
            <a:ext cx="4069080" cy="1170432"/>
          </a:xfrm>
          <a:prstGeom prst="roundRect">
            <a:avLst>
              <a:gd fmla="val 703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3"/>
          <p:cNvSpPr/>
          <p:nvPr/>
        </p:nvSpPr>
        <p:spPr>
          <a:xfrm>
            <a:off x="502920" y="2642616"/>
            <a:ext cx="566928" cy="566928"/>
          </a:xfrm>
          <a:prstGeom prst="ellipse">
            <a:avLst/>
          </a:prstGeom>
          <a:solidFill>
            <a:srgbClr val="DC2626">
              <a:alpha val="87843"/>
            </a:srgbClr>
          </a:solidFill>
          <a:ln cap="flat" cmpd="sng" w="12700">
            <a:solidFill>
              <a:srgbClr val="DC2626">
                <a:alpha val="8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93" name="Google Shape;49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5216" y="271576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3"/>
          <p:cNvSpPr/>
          <p:nvPr/>
        </p:nvSpPr>
        <p:spPr>
          <a:xfrm>
            <a:off x="1188720" y="260604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Sandboxed Code Execution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3"/>
          <p:cNvSpPr/>
          <p:nvPr/>
        </p:nvSpPr>
        <p:spPr>
          <a:xfrm>
            <a:off x="1188720" y="2935224"/>
            <a:ext cx="32004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AI-generated Python runs inside exec() with _SAFE_BUILTINS whitelist + AST pre-scan. os/sys/subprocess/eval/exec all blocked.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3"/>
          <p:cNvSpPr/>
          <p:nvPr/>
        </p:nvSpPr>
        <p:spPr>
          <a:xfrm>
            <a:off x="4709160" y="2532888"/>
            <a:ext cx="4069080" cy="1170432"/>
          </a:xfrm>
          <a:prstGeom prst="roundRect">
            <a:avLst>
              <a:gd fmla="val 703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3"/>
          <p:cNvSpPr/>
          <p:nvPr/>
        </p:nvSpPr>
        <p:spPr>
          <a:xfrm>
            <a:off x="4800600" y="2642616"/>
            <a:ext cx="566928" cy="566928"/>
          </a:xfrm>
          <a:prstGeom prst="ellipse">
            <a:avLst/>
          </a:prstGeom>
          <a:solidFill>
            <a:srgbClr val="1D5FA8">
              <a:alpha val="87843"/>
            </a:srgbClr>
          </a:solidFill>
          <a:ln cap="flat" cmpd="sng" w="12700">
            <a:solidFill>
              <a:srgbClr val="1D5FA8">
                <a:alpha val="8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98" name="Google Shape;49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82896" y="271576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13"/>
          <p:cNvSpPr/>
          <p:nvPr/>
        </p:nvSpPr>
        <p:spPr>
          <a:xfrm>
            <a:off x="5486400" y="260604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F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D5FA8"/>
                </a:solidFill>
                <a:latin typeface="Calibri"/>
                <a:ea typeface="Calibri"/>
                <a:cs typeface="Calibri"/>
                <a:sym typeface="Calibri"/>
              </a:rPr>
              <a:t>In-Memory SQL Execution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3"/>
          <p:cNvSpPr/>
          <p:nvPr/>
        </p:nvSpPr>
        <p:spPr>
          <a:xfrm>
            <a:off x="5486400" y="2935224"/>
            <a:ext cx="32004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Generated SQL actually runs against in-memory SQLite — not just displayed. DataFrame loaded as 'data' table, result read back, preview shown.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3"/>
          <p:cNvSpPr/>
          <p:nvPr/>
        </p:nvSpPr>
        <p:spPr>
          <a:xfrm>
            <a:off x="411480" y="3831336"/>
            <a:ext cx="4069080" cy="1170432"/>
          </a:xfrm>
          <a:prstGeom prst="roundRect">
            <a:avLst>
              <a:gd fmla="val 703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3"/>
          <p:cNvSpPr/>
          <p:nvPr/>
        </p:nvSpPr>
        <p:spPr>
          <a:xfrm>
            <a:off x="502920" y="3941064"/>
            <a:ext cx="566928" cy="566928"/>
          </a:xfrm>
          <a:prstGeom prst="ellipse">
            <a:avLst/>
          </a:prstGeom>
          <a:solidFill>
            <a:srgbClr val="D97706">
              <a:alpha val="87843"/>
            </a:srgbClr>
          </a:solidFill>
          <a:ln cap="flat" cmpd="sng" w="12700">
            <a:solidFill>
              <a:srgbClr val="D97706">
                <a:alpha val="8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03" name="Google Shape;503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5216" y="401421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13"/>
          <p:cNvSpPr/>
          <p:nvPr/>
        </p:nvSpPr>
        <p:spPr>
          <a:xfrm>
            <a:off x="1188720" y="3904488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Concurrent Fix Generation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3"/>
          <p:cNvSpPr/>
          <p:nvPr/>
        </p:nvSpPr>
        <p:spPr>
          <a:xfrm>
            <a:off x="1188720" y="4233672"/>
            <a:ext cx="32004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ThreadPoolExecutor(max_workers=5) generates fixes for all failures simultaneously — 5× speedup for multi-failure datasets.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3"/>
          <p:cNvSpPr/>
          <p:nvPr/>
        </p:nvSpPr>
        <p:spPr>
          <a:xfrm>
            <a:off x="4709160" y="3831336"/>
            <a:ext cx="4069080" cy="1170432"/>
          </a:xfrm>
          <a:prstGeom prst="roundRect">
            <a:avLst>
              <a:gd fmla="val 703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3"/>
          <p:cNvSpPr/>
          <p:nvPr/>
        </p:nvSpPr>
        <p:spPr>
          <a:xfrm>
            <a:off x="4800600" y="3941064"/>
            <a:ext cx="566928" cy="566928"/>
          </a:xfrm>
          <a:prstGeom prst="ellipse">
            <a:avLst/>
          </a:prstGeom>
          <a:solidFill>
            <a:srgbClr val="0D9488">
              <a:alpha val="87843"/>
            </a:srgbClr>
          </a:solidFill>
          <a:ln cap="flat" cmpd="sng" w="12700">
            <a:solidFill>
              <a:srgbClr val="0D9488">
                <a:alpha val="8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08" name="Google Shape;508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82896" y="401421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13"/>
          <p:cNvSpPr/>
          <p:nvPr/>
        </p:nvSpPr>
        <p:spPr>
          <a:xfrm>
            <a:off x="5486400" y="3904488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NL → YAML → Validation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3"/>
          <p:cNvSpPr/>
          <p:nvPr/>
        </p:nvSpPr>
        <p:spPr>
          <a:xfrm>
            <a:off x="5486400" y="4233672"/>
            <a:ext cx="32004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Full pipeline: 'end_date must be after start_date' → Groq generates YAML → CrossColumnCheck runs → pass/fail with line numbers.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4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2A4A"/>
                </a:solidFill>
                <a:latin typeface="Calibri"/>
                <a:ea typeface="Calibri"/>
                <a:cs typeface="Calibri"/>
                <a:sym typeface="Calibri"/>
              </a:rPr>
              <a:t>Strengths, Limitations &amp; Roadmap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4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Honest assessment — the mark of an engineer who thinks beyond the demo.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4"/>
          <p:cNvSpPr/>
          <p:nvPr/>
        </p:nvSpPr>
        <p:spPr>
          <a:xfrm>
            <a:off x="411480" y="1188720"/>
            <a:ext cx="2606040" cy="3657600"/>
          </a:xfrm>
          <a:prstGeom prst="roundRect">
            <a:avLst>
              <a:gd fmla="val 3158" name="adj"/>
            </a:avLst>
          </a:prstGeom>
          <a:solidFill>
            <a:srgbClr val="FFFFFF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4"/>
          <p:cNvSpPr/>
          <p:nvPr/>
        </p:nvSpPr>
        <p:spPr>
          <a:xfrm>
            <a:off x="411480" y="1188720"/>
            <a:ext cx="2606040" cy="384048"/>
          </a:xfrm>
          <a:prstGeom prst="roundRect">
            <a:avLst>
              <a:gd fmla="val 21429" name="adj"/>
            </a:avLst>
          </a:prstGeom>
          <a:solidFill>
            <a:srgbClr val="16A34A">
              <a:alpha val="85098"/>
            </a:srgbClr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4"/>
          <p:cNvSpPr/>
          <p:nvPr/>
        </p:nvSpPr>
        <p:spPr>
          <a:xfrm>
            <a:off x="502920" y="1234440"/>
            <a:ext cx="24231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✓  STRENGTHS</a:t>
            </a:r>
            <a:endParaRPr b="0" i="0" sz="1100" u="none" cap="none" strike="noStrike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4"/>
          <p:cNvSpPr/>
          <p:nvPr/>
        </p:nvSpPr>
        <p:spPr>
          <a:xfrm>
            <a:off x="548640" y="1664208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· 13 check types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4"/>
          <p:cNvSpPr/>
          <p:nvPr/>
        </p:nvSpPr>
        <p:spPr>
          <a:xfrm>
            <a:off x="548640" y="2020824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· 3-layer AI fallback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4"/>
          <p:cNvSpPr/>
          <p:nvPr/>
        </p:nvSpPr>
        <p:spPr>
          <a:xfrm>
            <a:off x="548640" y="23774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· AST security scan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4"/>
          <p:cNvSpPr/>
          <p:nvPr/>
        </p:nvSpPr>
        <p:spPr>
          <a:xfrm>
            <a:off x="548640" y="2734056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· Memory learning loop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4"/>
          <p:cNvSpPr/>
          <p:nvPr/>
        </p:nvSpPr>
        <p:spPr>
          <a:xfrm>
            <a:off x="548640" y="3090672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· Concurrent 5× speedup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4"/>
          <p:cNvSpPr/>
          <p:nvPr/>
        </p:nvSpPr>
        <p:spPr>
          <a:xfrm>
            <a:off x="548640" y="3447288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· Cross-column rules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4"/>
          <p:cNvSpPr/>
          <p:nvPr/>
        </p:nvSpPr>
        <p:spPr>
          <a:xfrm>
            <a:off x="548640" y="3803904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· SQL in-memory exec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4"/>
          <p:cNvSpPr/>
          <p:nvPr/>
        </p:nvSpPr>
        <p:spPr>
          <a:xfrm>
            <a:off x="548640" y="416052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· Full audit trail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4"/>
          <p:cNvSpPr/>
          <p:nvPr/>
        </p:nvSpPr>
        <p:spPr>
          <a:xfrm>
            <a:off x="3200400" y="1188720"/>
            <a:ext cx="2606040" cy="3657600"/>
          </a:xfrm>
          <a:prstGeom prst="roundRect">
            <a:avLst>
              <a:gd fmla="val 3158" name="adj"/>
            </a:avLst>
          </a:prstGeom>
          <a:solidFill>
            <a:srgbClr val="FFFFFF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4"/>
          <p:cNvSpPr/>
          <p:nvPr/>
        </p:nvSpPr>
        <p:spPr>
          <a:xfrm>
            <a:off x="3200400" y="1188720"/>
            <a:ext cx="2606040" cy="384048"/>
          </a:xfrm>
          <a:prstGeom prst="roundRect">
            <a:avLst>
              <a:gd fmla="val 21429" name="adj"/>
            </a:avLst>
          </a:prstGeom>
          <a:solidFill>
            <a:srgbClr val="DC2626">
              <a:alpha val="85098"/>
            </a:srgbClr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4"/>
          <p:cNvSpPr/>
          <p:nvPr/>
        </p:nvSpPr>
        <p:spPr>
          <a:xfrm>
            <a:off x="3291840" y="1234440"/>
            <a:ext cx="24231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⚠  LIMITATIONS</a:t>
            </a:r>
            <a:endParaRPr b="0" i="0" sz="1100" u="none" cap="none" strike="noStrike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4"/>
          <p:cNvSpPr/>
          <p:nvPr/>
        </p:nvSpPr>
        <p:spPr>
          <a:xfrm>
            <a:off x="3337560" y="1664208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· Single-user, single-process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4"/>
          <p:cNvSpPr/>
          <p:nvPr/>
        </p:nvSpPr>
        <p:spPr>
          <a:xfrm>
            <a:off x="3337560" y="214884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· Large files (&gt;100MB) slow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4"/>
          <p:cNvSpPr/>
          <p:nvPr/>
        </p:nvSpPr>
        <p:spPr>
          <a:xfrm>
            <a:off x="3337560" y="2633472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· SQL assumes table='data'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4"/>
          <p:cNvSpPr/>
          <p:nvPr/>
        </p:nvSpPr>
        <p:spPr>
          <a:xfrm>
            <a:off x="3337560" y="3118104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· Date format %Y-%m-%d default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4"/>
          <p:cNvSpPr/>
          <p:nvPr/>
        </p:nvSpPr>
        <p:spPr>
          <a:xfrm>
            <a:off x="3337560" y="3602736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· No conditional rules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4"/>
          <p:cNvSpPr/>
          <p:nvPr/>
        </p:nvSpPr>
        <p:spPr>
          <a:xfrm>
            <a:off x="3337560" y="4087368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· No real-time streaming UI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4"/>
          <p:cNvSpPr/>
          <p:nvPr/>
        </p:nvSpPr>
        <p:spPr>
          <a:xfrm>
            <a:off x="5989320" y="1188720"/>
            <a:ext cx="2697480" cy="3657600"/>
          </a:xfrm>
          <a:prstGeom prst="roundRect">
            <a:avLst>
              <a:gd fmla="val 3051" name="adj"/>
            </a:avLst>
          </a:prstGeom>
          <a:solidFill>
            <a:srgbClr val="FFFF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4"/>
          <p:cNvSpPr/>
          <p:nvPr/>
        </p:nvSpPr>
        <p:spPr>
          <a:xfrm>
            <a:off x="5989320" y="1188720"/>
            <a:ext cx="2697480" cy="384048"/>
          </a:xfrm>
          <a:prstGeom prst="roundRect">
            <a:avLst>
              <a:gd fmla="val 21429" name="adj"/>
            </a:avLst>
          </a:prstGeom>
          <a:solidFill>
            <a:srgbClr val="1D5FA8">
              <a:alpha val="85098"/>
            </a:srgbClr>
          </a:solidFill>
          <a:ln cap="flat" cmpd="sng" w="12700">
            <a:solidFill>
              <a:srgbClr val="1D5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4"/>
          <p:cNvSpPr/>
          <p:nvPr/>
        </p:nvSpPr>
        <p:spPr>
          <a:xfrm>
            <a:off x="6080760" y="1234440"/>
            <a:ext cx="2514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→  ROADMAP</a:t>
            </a:r>
            <a:endParaRPr b="0" i="0" sz="1100" u="none" cap="none" strike="noStrike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4"/>
          <p:cNvSpPr/>
          <p:nvPr/>
        </p:nvSpPr>
        <p:spPr>
          <a:xfrm>
            <a:off x="6126480" y="1664208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Multi-file batch processing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4"/>
          <p:cNvSpPr/>
          <p:nvPr/>
        </p:nvSpPr>
        <p:spPr>
          <a:xfrm>
            <a:off x="6126480" y="214884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PostgreSQL for multi-user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4"/>
          <p:cNvSpPr/>
          <p:nvPr/>
        </p:nvSpPr>
        <p:spPr>
          <a:xfrm>
            <a:off x="6126480" y="2633472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Token-streaming UI (Groq)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4"/>
          <p:cNvSpPr/>
          <p:nvPr/>
        </p:nvSpPr>
        <p:spPr>
          <a:xfrm>
            <a:off x="6126480" y="3118104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Fuzzy column name matching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4"/>
          <p:cNvSpPr/>
          <p:nvPr/>
        </p:nvSpPr>
        <p:spPr>
          <a:xfrm>
            <a:off x="6126480" y="3602736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Conditional rules (when:)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4"/>
          <p:cNvSpPr/>
          <p:nvPr/>
        </p:nvSpPr>
        <p:spPr>
          <a:xfrm>
            <a:off x="6126480" y="4087368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Cell-level diff tracking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A4A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5"/>
          <p:cNvSpPr/>
          <p:nvPr/>
        </p:nvSpPr>
        <p:spPr>
          <a:xfrm>
            <a:off x="-914400" y="3200400"/>
            <a:ext cx="4114800" cy="4114800"/>
          </a:xfrm>
          <a:prstGeom prst="ellipse">
            <a:avLst/>
          </a:prstGeom>
          <a:solidFill>
            <a:srgbClr val="1D5FA8">
              <a:alpha val="20000"/>
            </a:srgbClr>
          </a:solidFill>
          <a:ln cap="flat" cmpd="sng" w="12700">
            <a:solidFill>
              <a:srgbClr val="1D5FA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5"/>
          <p:cNvSpPr/>
          <p:nvPr/>
        </p:nvSpPr>
        <p:spPr>
          <a:xfrm>
            <a:off x="7498080" y="-1901952"/>
            <a:ext cx="3657600" cy="3657600"/>
          </a:xfrm>
          <a:prstGeom prst="ellipse">
            <a:avLst/>
          </a:prstGeom>
          <a:solidFill>
            <a:srgbClr val="0D9488">
              <a:alpha val="20000"/>
            </a:srgbClr>
          </a:solidFill>
          <a:ln cap="flat" cmpd="sng" w="12700">
            <a:solidFill>
              <a:srgbClr val="0D948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15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7EC8E3"/>
                </a:solidFill>
                <a:latin typeface="Calibri"/>
                <a:ea typeface="Calibri"/>
                <a:cs typeface="Calibri"/>
                <a:sym typeface="Calibri"/>
              </a:rPr>
              <a:t>Key Numbers to Remember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5"/>
          <p:cNvSpPr/>
          <p:nvPr/>
        </p:nvSpPr>
        <p:spPr>
          <a:xfrm>
            <a:off x="411480" y="804672"/>
            <a:ext cx="1938528" cy="1417320"/>
          </a:xfrm>
          <a:prstGeom prst="roundRect">
            <a:avLst>
              <a:gd fmla="val 6452" name="adj"/>
            </a:avLst>
          </a:prstGeom>
          <a:solidFill>
            <a:srgbClr val="FFFFFF">
              <a:alpha val="10196"/>
            </a:srgbClr>
          </a:solidFill>
          <a:ln cap="flat" cmpd="sng" w="15225">
            <a:solidFill>
              <a:srgbClr val="3B82C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15"/>
          <p:cNvSpPr/>
          <p:nvPr/>
        </p:nvSpPr>
        <p:spPr>
          <a:xfrm>
            <a:off x="411480" y="896112"/>
            <a:ext cx="19385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C4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3B82C4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5"/>
          <p:cNvSpPr/>
          <p:nvPr/>
        </p:nvSpPr>
        <p:spPr>
          <a:xfrm>
            <a:off x="411480" y="1627632"/>
            <a:ext cx="19385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Check Types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5"/>
          <p:cNvSpPr/>
          <p:nvPr/>
        </p:nvSpPr>
        <p:spPr>
          <a:xfrm>
            <a:off x="2514600" y="804672"/>
            <a:ext cx="1938528" cy="1417320"/>
          </a:xfrm>
          <a:prstGeom prst="roundRect">
            <a:avLst>
              <a:gd fmla="val 6452" name="adj"/>
            </a:avLst>
          </a:prstGeom>
          <a:solidFill>
            <a:srgbClr val="FFFFFF">
              <a:alpha val="10196"/>
            </a:srgbClr>
          </a:solidFill>
          <a:ln cap="flat" cmpd="sng" w="15225">
            <a:solidFill>
              <a:srgbClr val="0D9488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15"/>
          <p:cNvSpPr/>
          <p:nvPr/>
        </p:nvSpPr>
        <p:spPr>
          <a:xfrm>
            <a:off x="2514600" y="896112"/>
            <a:ext cx="19385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5"/>
          <p:cNvSpPr/>
          <p:nvPr/>
        </p:nvSpPr>
        <p:spPr>
          <a:xfrm>
            <a:off x="2514600" y="1627632"/>
            <a:ext cx="19385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Agent Loop Stages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5"/>
          <p:cNvSpPr/>
          <p:nvPr/>
        </p:nvSpPr>
        <p:spPr>
          <a:xfrm>
            <a:off x="4617720" y="804672"/>
            <a:ext cx="1938528" cy="1417320"/>
          </a:xfrm>
          <a:prstGeom prst="roundRect">
            <a:avLst>
              <a:gd fmla="val 6452" name="adj"/>
            </a:avLst>
          </a:prstGeom>
          <a:solidFill>
            <a:srgbClr val="FFFFFF">
              <a:alpha val="10196"/>
            </a:srgbClr>
          </a:solidFill>
          <a:ln cap="flat" cmpd="sng" w="15225">
            <a:solidFill>
              <a:srgbClr val="7C3AED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15"/>
          <p:cNvSpPr/>
          <p:nvPr/>
        </p:nvSpPr>
        <p:spPr>
          <a:xfrm>
            <a:off x="4617720" y="896112"/>
            <a:ext cx="19385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5"/>
          <p:cNvSpPr/>
          <p:nvPr/>
        </p:nvSpPr>
        <p:spPr>
          <a:xfrm>
            <a:off x="4617720" y="1627632"/>
            <a:ext cx="19385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SQLite Tables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5"/>
          <p:cNvSpPr/>
          <p:nvPr/>
        </p:nvSpPr>
        <p:spPr>
          <a:xfrm>
            <a:off x="6720840" y="804672"/>
            <a:ext cx="1938528" cy="1417320"/>
          </a:xfrm>
          <a:prstGeom prst="roundRect">
            <a:avLst>
              <a:gd fmla="val 6452" name="adj"/>
            </a:avLst>
          </a:prstGeom>
          <a:solidFill>
            <a:srgbClr val="FFFFFF">
              <a:alpha val="10196"/>
            </a:srgbClr>
          </a:solidFill>
          <a:ln cap="flat" cmpd="sng" w="15225">
            <a:solidFill>
              <a:srgbClr val="D97706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15"/>
          <p:cNvSpPr/>
          <p:nvPr/>
        </p:nvSpPr>
        <p:spPr>
          <a:xfrm>
            <a:off x="6720840" y="896112"/>
            <a:ext cx="19385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5"/>
          <p:cNvSpPr/>
          <p:nvPr/>
        </p:nvSpPr>
        <p:spPr>
          <a:xfrm>
            <a:off x="6720840" y="1627632"/>
            <a:ext cx="19385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AI Fallback Layers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5"/>
          <p:cNvSpPr/>
          <p:nvPr/>
        </p:nvSpPr>
        <p:spPr>
          <a:xfrm>
            <a:off x="411480" y="2404872"/>
            <a:ext cx="1938528" cy="1417320"/>
          </a:xfrm>
          <a:prstGeom prst="roundRect">
            <a:avLst>
              <a:gd fmla="val 6452" name="adj"/>
            </a:avLst>
          </a:prstGeom>
          <a:solidFill>
            <a:srgbClr val="FFFFFF">
              <a:alpha val="10196"/>
            </a:srgbClr>
          </a:solidFill>
          <a:ln cap="flat" cmpd="sng" w="15225">
            <a:solidFill>
              <a:srgbClr val="0D9488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15"/>
          <p:cNvSpPr/>
          <p:nvPr/>
        </p:nvSpPr>
        <p:spPr>
          <a:xfrm>
            <a:off x="411480" y="2496312"/>
            <a:ext cx="19385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5×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5"/>
          <p:cNvSpPr/>
          <p:nvPr/>
        </p:nvSpPr>
        <p:spPr>
          <a:xfrm>
            <a:off x="411480" y="3227832"/>
            <a:ext cx="19385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Concurrent Speedup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5"/>
          <p:cNvSpPr/>
          <p:nvPr/>
        </p:nvSpPr>
        <p:spPr>
          <a:xfrm>
            <a:off x="2514600" y="2404872"/>
            <a:ext cx="1938528" cy="1417320"/>
          </a:xfrm>
          <a:prstGeom prst="roundRect">
            <a:avLst>
              <a:gd fmla="val 6452" name="adj"/>
            </a:avLst>
          </a:prstGeom>
          <a:solidFill>
            <a:srgbClr val="FFFFFF">
              <a:alpha val="10196"/>
            </a:srgbClr>
          </a:solidFill>
          <a:ln cap="flat" cmpd="sng" w="15225">
            <a:solidFill>
              <a:srgbClr val="3B82C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15"/>
          <p:cNvSpPr/>
          <p:nvPr/>
        </p:nvSpPr>
        <p:spPr>
          <a:xfrm>
            <a:off x="2514600" y="2496312"/>
            <a:ext cx="19385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C4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3B82C4"/>
                </a:solidFill>
                <a:latin typeface="Calibri"/>
                <a:ea typeface="Calibri"/>
                <a:cs typeface="Calibri"/>
                <a:sym typeface="Calibri"/>
              </a:rPr>
              <a:t>80%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5"/>
          <p:cNvSpPr/>
          <p:nvPr/>
        </p:nvSpPr>
        <p:spPr>
          <a:xfrm>
            <a:off x="2514600" y="3227832"/>
            <a:ext cx="19385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Memory Threshold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5"/>
          <p:cNvSpPr/>
          <p:nvPr/>
        </p:nvSpPr>
        <p:spPr>
          <a:xfrm>
            <a:off x="4617720" y="2404872"/>
            <a:ext cx="1938528" cy="1417320"/>
          </a:xfrm>
          <a:prstGeom prst="roundRect">
            <a:avLst>
              <a:gd fmla="val 6452" name="adj"/>
            </a:avLst>
          </a:prstGeom>
          <a:solidFill>
            <a:srgbClr val="FFFFFF">
              <a:alpha val="10196"/>
            </a:srgbClr>
          </a:solidFill>
          <a:ln cap="flat" cmpd="sng" w="15225">
            <a:solidFill>
              <a:srgbClr val="16A34A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15"/>
          <p:cNvSpPr/>
          <p:nvPr/>
        </p:nvSpPr>
        <p:spPr>
          <a:xfrm>
            <a:off x="4617720" y="2496312"/>
            <a:ext cx="19385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95%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5"/>
          <p:cNvSpPr/>
          <p:nvPr/>
        </p:nvSpPr>
        <p:spPr>
          <a:xfrm>
            <a:off x="4617720" y="3227832"/>
            <a:ext cx="19385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Approval Threshold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5"/>
          <p:cNvSpPr/>
          <p:nvPr/>
        </p:nvSpPr>
        <p:spPr>
          <a:xfrm>
            <a:off x="6720840" y="2404872"/>
            <a:ext cx="1938528" cy="1417320"/>
          </a:xfrm>
          <a:prstGeom prst="roundRect">
            <a:avLst>
              <a:gd fmla="val 6452" name="adj"/>
            </a:avLst>
          </a:prstGeom>
          <a:solidFill>
            <a:srgbClr val="FFFFFF">
              <a:alpha val="10196"/>
            </a:srgbClr>
          </a:solidFill>
          <a:ln cap="flat" cmpd="sng" w="15225">
            <a:solidFill>
              <a:srgbClr val="7C3AED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15"/>
          <p:cNvSpPr/>
          <p:nvPr/>
        </p:nvSpPr>
        <p:spPr>
          <a:xfrm>
            <a:off x="6720840" y="2496312"/>
            <a:ext cx="19385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54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5"/>
          <p:cNvSpPr/>
          <p:nvPr/>
        </p:nvSpPr>
        <p:spPr>
          <a:xfrm>
            <a:off x="6720840" y="3227832"/>
            <a:ext cx="19385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Memory Records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5"/>
          <p:cNvSpPr/>
          <p:nvPr/>
        </p:nvSpPr>
        <p:spPr>
          <a:xfrm>
            <a:off x="457200" y="4041648"/>
            <a:ext cx="8229600" cy="804672"/>
          </a:xfrm>
          <a:prstGeom prst="roundRect">
            <a:avLst>
              <a:gd fmla="val 11364" name="adj"/>
            </a:avLst>
          </a:prstGeom>
          <a:solidFill>
            <a:srgbClr val="FFFFFF">
              <a:alpha val="7843"/>
            </a:srgbClr>
          </a:solidFill>
          <a:ln cap="flat" cmpd="sng" w="12700">
            <a:solidFill>
              <a:srgbClr val="3B82C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15"/>
          <p:cNvSpPr/>
          <p:nvPr/>
        </p:nvSpPr>
        <p:spPr>
          <a:xfrm>
            <a:off x="594360" y="4078224"/>
            <a:ext cx="79552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"DQ Guardian AI makes expert data engineering knowledge available to anyone — from detection to diagnosis to repair to institutional memory — in under 10 seconds."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6"/>
          <p:cNvSpPr txBox="1"/>
          <p:nvPr/>
        </p:nvSpPr>
        <p:spPr>
          <a:xfrm>
            <a:off x="2286000" y="2387084"/>
            <a:ext cx="4572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6" name="Google Shape;58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5248"/>
            <a:ext cx="9144002" cy="5114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2026-06-10T08:03:28Z</dcterms:created>
  <dc:creator>DQ Guardian AI</dc:creator>
</cp:coreProperties>
</file>